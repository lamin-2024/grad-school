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3"/>
  </p:notesMasterIdLst>
  <p:sldIdLst>
    <p:sldId id="256" r:id="rId5"/>
    <p:sldId id="257" r:id="rId6"/>
    <p:sldId id="260" r:id="rId7"/>
    <p:sldId id="258" r:id="rId8"/>
    <p:sldId id="268" r:id="rId9"/>
    <p:sldId id="269" r:id="rId10"/>
    <p:sldId id="270" r:id="rId11"/>
    <p:sldId id="271" r:id="rId12"/>
    <p:sldId id="261" r:id="rId13"/>
    <p:sldId id="262" r:id="rId14"/>
    <p:sldId id="263" r:id="rId15"/>
    <p:sldId id="264" r:id="rId16"/>
    <p:sldId id="265" r:id="rId17"/>
    <p:sldId id="266" r:id="rId18"/>
    <p:sldId id="267"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E9E887-5829-44FE-9C8A-E5CA7AAAE4E4}" v="1" dt="2025-05-06T18:48:57.467"/>
    <p1510:client id="{76D36182-8091-4B81-777F-ED55E7961131}" v="257" dt="2025-05-06T06:47:38.572"/>
    <p1510:client id="{9D13313E-D5EB-40CC-B444-0FC5B0FC01B4}" v="747" dt="2025-05-06T08:32:12.740"/>
    <p1510:client id="{FDFBD7C9-6F11-628A-8EEA-204DEC4A438A}" v="2140" dt="2025-05-06T17:31:00.4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C556AD-5128-49E3-975F-1B4DFC656725}" type="datetimeFigureOut">
              <a:rPr lang="en-US" smtClean="0"/>
              <a:t>5/6/2025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F7B70B-B06B-4820-A3C7-FA606529B154}" type="slidenum">
              <a:rPr lang="en-US" smtClean="0"/>
              <a:t>‹#›</a:t>
            </a:fld>
            <a:endParaRPr lang="en-US"/>
          </a:p>
        </p:txBody>
      </p:sp>
    </p:spTree>
    <p:extLst>
      <p:ext uri="{BB962C8B-B14F-4D97-AF65-F5344CB8AC3E}">
        <p14:creationId xmlns:p14="http://schemas.microsoft.com/office/powerpoint/2010/main" val="30681565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CF7B70B-B06B-4820-A3C7-FA606529B154}" type="slidenum">
              <a:rPr lang="en-US" smtClean="0"/>
              <a:t>4</a:t>
            </a:fld>
            <a:endParaRPr lang="en-US"/>
          </a:p>
        </p:txBody>
      </p:sp>
    </p:spTree>
    <p:extLst>
      <p:ext uri="{BB962C8B-B14F-4D97-AF65-F5344CB8AC3E}">
        <p14:creationId xmlns:p14="http://schemas.microsoft.com/office/powerpoint/2010/main" val="10048647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CF7B70B-B06B-4820-A3C7-FA606529B154}" type="slidenum">
              <a:rPr lang="en-US" smtClean="0"/>
              <a:t>5</a:t>
            </a:fld>
            <a:endParaRPr lang="en-US"/>
          </a:p>
        </p:txBody>
      </p:sp>
    </p:spTree>
    <p:extLst>
      <p:ext uri="{BB962C8B-B14F-4D97-AF65-F5344CB8AC3E}">
        <p14:creationId xmlns:p14="http://schemas.microsoft.com/office/powerpoint/2010/main" val="1663831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E84FD-50F2-33F5-34BC-790BE7651B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9F6FB30-4E66-2D1F-1EA5-5A022617EB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C87D0B5-15B6-B12E-7629-A448D4EF28B3}"/>
              </a:ext>
            </a:extLst>
          </p:cNvPr>
          <p:cNvSpPr>
            <a:spLocks noGrp="1"/>
          </p:cNvSpPr>
          <p:nvPr>
            <p:ph type="dt" sz="half" idx="10"/>
          </p:nvPr>
        </p:nvSpPr>
        <p:spPr/>
        <p:txBody>
          <a:bodyPr/>
          <a:lstStyle/>
          <a:p>
            <a:fld id="{4991B27B-398A-4FB0-845D-523747543544}" type="datetimeFigureOut">
              <a:rPr lang="en-US" smtClean="0"/>
              <a:t>5/6/2025</a:t>
            </a:fld>
            <a:endParaRPr lang="en-US"/>
          </a:p>
        </p:txBody>
      </p:sp>
      <p:sp>
        <p:nvSpPr>
          <p:cNvPr id="5" name="Footer Placeholder 4">
            <a:extLst>
              <a:ext uri="{FF2B5EF4-FFF2-40B4-BE49-F238E27FC236}">
                <a16:creationId xmlns:a16="http://schemas.microsoft.com/office/drawing/2014/main" id="{3C59897C-D89D-C27D-9C2D-02AEF0A415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9027FA-E712-608C-BCFC-58F561CF9A47}"/>
              </a:ext>
            </a:extLst>
          </p:cNvPr>
          <p:cNvSpPr>
            <a:spLocks noGrp="1"/>
          </p:cNvSpPr>
          <p:nvPr>
            <p:ph type="sldNum" sz="quarter" idx="12"/>
          </p:nvPr>
        </p:nvSpPr>
        <p:spPr/>
        <p:txBody>
          <a:bodyPr/>
          <a:lstStyle/>
          <a:p>
            <a:fld id="{15FF1336-DA51-4E71-BD57-AE556DD4D3D3}" type="slidenum">
              <a:rPr lang="en-US" smtClean="0"/>
              <a:t>‹#›</a:t>
            </a:fld>
            <a:endParaRPr lang="en-US"/>
          </a:p>
        </p:txBody>
      </p:sp>
    </p:spTree>
    <p:extLst>
      <p:ext uri="{BB962C8B-B14F-4D97-AF65-F5344CB8AC3E}">
        <p14:creationId xmlns:p14="http://schemas.microsoft.com/office/powerpoint/2010/main" val="602209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F2E90-D5C8-CFD2-004B-5E004A7D507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09E99B5-ABE9-06BA-7E58-1C6EBD1536C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0407AE-7712-654F-458F-7F80B297DBFB}"/>
              </a:ext>
            </a:extLst>
          </p:cNvPr>
          <p:cNvSpPr>
            <a:spLocks noGrp="1"/>
          </p:cNvSpPr>
          <p:nvPr>
            <p:ph type="dt" sz="half" idx="10"/>
          </p:nvPr>
        </p:nvSpPr>
        <p:spPr/>
        <p:txBody>
          <a:bodyPr/>
          <a:lstStyle/>
          <a:p>
            <a:fld id="{4991B27B-398A-4FB0-845D-523747543544}" type="datetimeFigureOut">
              <a:rPr lang="en-US" smtClean="0"/>
              <a:t>5/6/2025</a:t>
            </a:fld>
            <a:endParaRPr lang="en-US"/>
          </a:p>
        </p:txBody>
      </p:sp>
      <p:sp>
        <p:nvSpPr>
          <p:cNvPr id="5" name="Footer Placeholder 4">
            <a:extLst>
              <a:ext uri="{FF2B5EF4-FFF2-40B4-BE49-F238E27FC236}">
                <a16:creationId xmlns:a16="http://schemas.microsoft.com/office/drawing/2014/main" id="{449E91EF-3EAA-F062-A4F2-0D99720B90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E59C01-1EDF-6108-13E6-18E8389DDB10}"/>
              </a:ext>
            </a:extLst>
          </p:cNvPr>
          <p:cNvSpPr>
            <a:spLocks noGrp="1"/>
          </p:cNvSpPr>
          <p:nvPr>
            <p:ph type="sldNum" sz="quarter" idx="12"/>
          </p:nvPr>
        </p:nvSpPr>
        <p:spPr/>
        <p:txBody>
          <a:bodyPr/>
          <a:lstStyle/>
          <a:p>
            <a:fld id="{15FF1336-DA51-4E71-BD57-AE556DD4D3D3}" type="slidenum">
              <a:rPr lang="en-US" smtClean="0"/>
              <a:t>‹#›</a:t>
            </a:fld>
            <a:endParaRPr lang="en-US"/>
          </a:p>
        </p:txBody>
      </p:sp>
    </p:spTree>
    <p:extLst>
      <p:ext uri="{BB962C8B-B14F-4D97-AF65-F5344CB8AC3E}">
        <p14:creationId xmlns:p14="http://schemas.microsoft.com/office/powerpoint/2010/main" val="2039847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EB1D7-4E2E-2B25-D870-5C9F0E4FCC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82198EF-7D2F-6FA9-802C-7543963ECD4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8DBE670-7F89-B68C-32B7-5E63330F9491}"/>
              </a:ext>
            </a:extLst>
          </p:cNvPr>
          <p:cNvSpPr>
            <a:spLocks noGrp="1"/>
          </p:cNvSpPr>
          <p:nvPr>
            <p:ph type="dt" sz="half" idx="10"/>
          </p:nvPr>
        </p:nvSpPr>
        <p:spPr/>
        <p:txBody>
          <a:bodyPr/>
          <a:lstStyle/>
          <a:p>
            <a:fld id="{4991B27B-398A-4FB0-845D-523747543544}" type="datetimeFigureOut">
              <a:rPr lang="en-US" smtClean="0"/>
              <a:t>5/6/2025</a:t>
            </a:fld>
            <a:endParaRPr lang="en-US"/>
          </a:p>
        </p:txBody>
      </p:sp>
      <p:sp>
        <p:nvSpPr>
          <p:cNvPr id="5" name="Footer Placeholder 4">
            <a:extLst>
              <a:ext uri="{FF2B5EF4-FFF2-40B4-BE49-F238E27FC236}">
                <a16:creationId xmlns:a16="http://schemas.microsoft.com/office/drawing/2014/main" id="{0BB16CEC-96F2-50E5-6F32-C20A764768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64553B-631F-B9C2-B540-6AEC58EC035C}"/>
              </a:ext>
            </a:extLst>
          </p:cNvPr>
          <p:cNvSpPr>
            <a:spLocks noGrp="1"/>
          </p:cNvSpPr>
          <p:nvPr>
            <p:ph type="sldNum" sz="quarter" idx="12"/>
          </p:nvPr>
        </p:nvSpPr>
        <p:spPr/>
        <p:txBody>
          <a:bodyPr/>
          <a:lstStyle/>
          <a:p>
            <a:fld id="{15FF1336-DA51-4E71-BD57-AE556DD4D3D3}" type="slidenum">
              <a:rPr lang="en-US" smtClean="0"/>
              <a:t>‹#›</a:t>
            </a:fld>
            <a:endParaRPr lang="en-US"/>
          </a:p>
        </p:txBody>
      </p:sp>
    </p:spTree>
    <p:extLst>
      <p:ext uri="{BB962C8B-B14F-4D97-AF65-F5344CB8AC3E}">
        <p14:creationId xmlns:p14="http://schemas.microsoft.com/office/powerpoint/2010/main" val="2050131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11ADB-4032-CE89-D8D8-509D419BE6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EBF00C-04B9-40AA-8818-AF338B8361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99C672D-5106-EACF-D833-80557CDB25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9B584DC-9111-1B8A-1D04-AADFD81A61CC}"/>
              </a:ext>
            </a:extLst>
          </p:cNvPr>
          <p:cNvSpPr>
            <a:spLocks noGrp="1"/>
          </p:cNvSpPr>
          <p:nvPr>
            <p:ph type="dt" sz="half" idx="10"/>
          </p:nvPr>
        </p:nvSpPr>
        <p:spPr/>
        <p:txBody>
          <a:bodyPr/>
          <a:lstStyle/>
          <a:p>
            <a:fld id="{4991B27B-398A-4FB0-845D-523747543544}" type="datetimeFigureOut">
              <a:rPr lang="en-US" smtClean="0"/>
              <a:t>5/6/2025</a:t>
            </a:fld>
            <a:endParaRPr lang="en-US"/>
          </a:p>
        </p:txBody>
      </p:sp>
      <p:sp>
        <p:nvSpPr>
          <p:cNvPr id="6" name="Footer Placeholder 5">
            <a:extLst>
              <a:ext uri="{FF2B5EF4-FFF2-40B4-BE49-F238E27FC236}">
                <a16:creationId xmlns:a16="http://schemas.microsoft.com/office/drawing/2014/main" id="{34DE41CB-42FE-4A3A-F3F1-E2D70A54A5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D764AF-6944-9007-3D03-D5DA31F47FC2}"/>
              </a:ext>
            </a:extLst>
          </p:cNvPr>
          <p:cNvSpPr>
            <a:spLocks noGrp="1"/>
          </p:cNvSpPr>
          <p:nvPr>
            <p:ph type="sldNum" sz="quarter" idx="12"/>
          </p:nvPr>
        </p:nvSpPr>
        <p:spPr/>
        <p:txBody>
          <a:bodyPr/>
          <a:lstStyle/>
          <a:p>
            <a:fld id="{15FF1336-DA51-4E71-BD57-AE556DD4D3D3}" type="slidenum">
              <a:rPr lang="en-US" smtClean="0"/>
              <a:t>‹#›</a:t>
            </a:fld>
            <a:endParaRPr lang="en-US"/>
          </a:p>
        </p:txBody>
      </p:sp>
    </p:spTree>
    <p:extLst>
      <p:ext uri="{BB962C8B-B14F-4D97-AF65-F5344CB8AC3E}">
        <p14:creationId xmlns:p14="http://schemas.microsoft.com/office/powerpoint/2010/main" val="3614369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566B9-67CD-9366-B65C-544BFDEF081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C88611-E0FC-8E21-B86A-3ABC7F9FDD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2D9223-8E8E-9C1C-0617-CF56FADA59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507B7F5-4C1D-39C8-6710-3E67A19527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4D43DC8-59EA-104B-2DDE-EE85643C6F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6093DC6-15EA-FC20-F7C7-DE0A9C001B0E}"/>
              </a:ext>
            </a:extLst>
          </p:cNvPr>
          <p:cNvSpPr>
            <a:spLocks noGrp="1"/>
          </p:cNvSpPr>
          <p:nvPr>
            <p:ph type="dt" sz="half" idx="10"/>
          </p:nvPr>
        </p:nvSpPr>
        <p:spPr/>
        <p:txBody>
          <a:bodyPr/>
          <a:lstStyle/>
          <a:p>
            <a:fld id="{4991B27B-398A-4FB0-845D-523747543544}" type="datetimeFigureOut">
              <a:rPr lang="en-US" smtClean="0"/>
              <a:t>5/6/2025</a:t>
            </a:fld>
            <a:endParaRPr lang="en-US"/>
          </a:p>
        </p:txBody>
      </p:sp>
      <p:sp>
        <p:nvSpPr>
          <p:cNvPr id="8" name="Footer Placeholder 7">
            <a:extLst>
              <a:ext uri="{FF2B5EF4-FFF2-40B4-BE49-F238E27FC236}">
                <a16:creationId xmlns:a16="http://schemas.microsoft.com/office/drawing/2014/main" id="{0DB6168B-E8AC-1EF6-ED83-4C64386694F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EF5F0CB-C9D1-AF63-8A68-E8212E68E7E0}"/>
              </a:ext>
            </a:extLst>
          </p:cNvPr>
          <p:cNvSpPr>
            <a:spLocks noGrp="1"/>
          </p:cNvSpPr>
          <p:nvPr>
            <p:ph type="sldNum" sz="quarter" idx="12"/>
          </p:nvPr>
        </p:nvSpPr>
        <p:spPr/>
        <p:txBody>
          <a:bodyPr/>
          <a:lstStyle/>
          <a:p>
            <a:fld id="{15FF1336-DA51-4E71-BD57-AE556DD4D3D3}" type="slidenum">
              <a:rPr lang="en-US" smtClean="0"/>
              <a:t>‹#›</a:t>
            </a:fld>
            <a:endParaRPr lang="en-US"/>
          </a:p>
        </p:txBody>
      </p:sp>
    </p:spTree>
    <p:extLst>
      <p:ext uri="{BB962C8B-B14F-4D97-AF65-F5344CB8AC3E}">
        <p14:creationId xmlns:p14="http://schemas.microsoft.com/office/powerpoint/2010/main" val="37229783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F254F-9DCB-F72D-2145-64EC345D5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4E47325-3511-A07E-2EE0-1A7A30259F4D}"/>
              </a:ext>
            </a:extLst>
          </p:cNvPr>
          <p:cNvSpPr>
            <a:spLocks noGrp="1"/>
          </p:cNvSpPr>
          <p:nvPr>
            <p:ph type="dt" sz="half" idx="10"/>
          </p:nvPr>
        </p:nvSpPr>
        <p:spPr/>
        <p:txBody>
          <a:bodyPr/>
          <a:lstStyle/>
          <a:p>
            <a:fld id="{4991B27B-398A-4FB0-845D-523747543544}" type="datetimeFigureOut">
              <a:rPr lang="en-US" smtClean="0"/>
              <a:t>5/6/2025</a:t>
            </a:fld>
            <a:endParaRPr lang="en-US"/>
          </a:p>
        </p:txBody>
      </p:sp>
      <p:sp>
        <p:nvSpPr>
          <p:cNvPr id="4" name="Footer Placeholder 3">
            <a:extLst>
              <a:ext uri="{FF2B5EF4-FFF2-40B4-BE49-F238E27FC236}">
                <a16:creationId xmlns:a16="http://schemas.microsoft.com/office/drawing/2014/main" id="{04958CE4-E3CE-807E-F2C8-5D711BE648E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DE8AAB3-90F7-ECF0-5F24-3A61EE65444C}"/>
              </a:ext>
            </a:extLst>
          </p:cNvPr>
          <p:cNvSpPr>
            <a:spLocks noGrp="1"/>
          </p:cNvSpPr>
          <p:nvPr>
            <p:ph type="sldNum" sz="quarter" idx="12"/>
          </p:nvPr>
        </p:nvSpPr>
        <p:spPr/>
        <p:txBody>
          <a:bodyPr/>
          <a:lstStyle/>
          <a:p>
            <a:fld id="{15FF1336-DA51-4E71-BD57-AE556DD4D3D3}" type="slidenum">
              <a:rPr lang="en-US" smtClean="0"/>
              <a:t>‹#›</a:t>
            </a:fld>
            <a:endParaRPr lang="en-US"/>
          </a:p>
        </p:txBody>
      </p:sp>
    </p:spTree>
    <p:extLst>
      <p:ext uri="{BB962C8B-B14F-4D97-AF65-F5344CB8AC3E}">
        <p14:creationId xmlns:p14="http://schemas.microsoft.com/office/powerpoint/2010/main" val="759294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4B6E03-2FB0-8F37-6796-5C339D1B5A52}"/>
              </a:ext>
            </a:extLst>
          </p:cNvPr>
          <p:cNvSpPr>
            <a:spLocks noGrp="1"/>
          </p:cNvSpPr>
          <p:nvPr>
            <p:ph type="dt" sz="half" idx="10"/>
          </p:nvPr>
        </p:nvSpPr>
        <p:spPr/>
        <p:txBody>
          <a:bodyPr/>
          <a:lstStyle/>
          <a:p>
            <a:fld id="{4991B27B-398A-4FB0-845D-523747543544}" type="datetimeFigureOut">
              <a:rPr lang="en-US" smtClean="0"/>
              <a:t>5/6/2025</a:t>
            </a:fld>
            <a:endParaRPr lang="en-US"/>
          </a:p>
        </p:txBody>
      </p:sp>
      <p:sp>
        <p:nvSpPr>
          <p:cNvPr id="3" name="Footer Placeholder 2">
            <a:extLst>
              <a:ext uri="{FF2B5EF4-FFF2-40B4-BE49-F238E27FC236}">
                <a16:creationId xmlns:a16="http://schemas.microsoft.com/office/drawing/2014/main" id="{B319E4A9-76DE-DE70-4E7D-CC8C52C7C73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017BEEC-64C6-687F-087A-D75353ABA242}"/>
              </a:ext>
            </a:extLst>
          </p:cNvPr>
          <p:cNvSpPr>
            <a:spLocks noGrp="1"/>
          </p:cNvSpPr>
          <p:nvPr>
            <p:ph type="sldNum" sz="quarter" idx="12"/>
          </p:nvPr>
        </p:nvSpPr>
        <p:spPr/>
        <p:txBody>
          <a:bodyPr/>
          <a:lstStyle/>
          <a:p>
            <a:fld id="{15FF1336-DA51-4E71-BD57-AE556DD4D3D3}" type="slidenum">
              <a:rPr lang="en-US" smtClean="0"/>
              <a:t>‹#›</a:t>
            </a:fld>
            <a:endParaRPr lang="en-US"/>
          </a:p>
        </p:txBody>
      </p:sp>
    </p:spTree>
    <p:extLst>
      <p:ext uri="{BB962C8B-B14F-4D97-AF65-F5344CB8AC3E}">
        <p14:creationId xmlns:p14="http://schemas.microsoft.com/office/powerpoint/2010/main" val="4137238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FF02B-7F4F-F801-8E55-2CC620207A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41036D2-8753-D76B-C544-5B8C234B37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CD07FCB-9D3A-8DF9-F785-46727DEA55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D2B059-1A16-9B96-AD7A-E9D06CD91772}"/>
              </a:ext>
            </a:extLst>
          </p:cNvPr>
          <p:cNvSpPr>
            <a:spLocks noGrp="1"/>
          </p:cNvSpPr>
          <p:nvPr>
            <p:ph type="dt" sz="half" idx="10"/>
          </p:nvPr>
        </p:nvSpPr>
        <p:spPr/>
        <p:txBody>
          <a:bodyPr/>
          <a:lstStyle/>
          <a:p>
            <a:fld id="{4991B27B-398A-4FB0-845D-523747543544}" type="datetimeFigureOut">
              <a:rPr lang="en-US" smtClean="0"/>
              <a:t>5/6/2025</a:t>
            </a:fld>
            <a:endParaRPr lang="en-US"/>
          </a:p>
        </p:txBody>
      </p:sp>
      <p:sp>
        <p:nvSpPr>
          <p:cNvPr id="6" name="Footer Placeholder 5">
            <a:extLst>
              <a:ext uri="{FF2B5EF4-FFF2-40B4-BE49-F238E27FC236}">
                <a16:creationId xmlns:a16="http://schemas.microsoft.com/office/drawing/2014/main" id="{A74F8FD3-2967-9B95-A18F-8D23A229D2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F183F4-C31D-B72F-ADB5-21175D0F55C5}"/>
              </a:ext>
            </a:extLst>
          </p:cNvPr>
          <p:cNvSpPr>
            <a:spLocks noGrp="1"/>
          </p:cNvSpPr>
          <p:nvPr>
            <p:ph type="sldNum" sz="quarter" idx="12"/>
          </p:nvPr>
        </p:nvSpPr>
        <p:spPr/>
        <p:txBody>
          <a:bodyPr/>
          <a:lstStyle/>
          <a:p>
            <a:fld id="{15FF1336-DA51-4E71-BD57-AE556DD4D3D3}" type="slidenum">
              <a:rPr lang="en-US" smtClean="0"/>
              <a:t>‹#›</a:t>
            </a:fld>
            <a:endParaRPr lang="en-US"/>
          </a:p>
        </p:txBody>
      </p:sp>
    </p:spTree>
    <p:extLst>
      <p:ext uri="{BB962C8B-B14F-4D97-AF65-F5344CB8AC3E}">
        <p14:creationId xmlns:p14="http://schemas.microsoft.com/office/powerpoint/2010/main" val="3213585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ADC28-852C-3CEC-C011-11A41CC461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1DA973-E3B7-E45A-4FC9-D879790186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8DB02A3-6962-DD1D-768C-C7F66D8B8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A65CF9-1E68-8116-5342-AF8D8A9A4D57}"/>
              </a:ext>
            </a:extLst>
          </p:cNvPr>
          <p:cNvSpPr>
            <a:spLocks noGrp="1"/>
          </p:cNvSpPr>
          <p:nvPr>
            <p:ph type="dt" sz="half" idx="10"/>
          </p:nvPr>
        </p:nvSpPr>
        <p:spPr/>
        <p:txBody>
          <a:bodyPr/>
          <a:lstStyle/>
          <a:p>
            <a:fld id="{4991B27B-398A-4FB0-845D-523747543544}" type="datetimeFigureOut">
              <a:rPr lang="en-US" smtClean="0"/>
              <a:t>5/6/2025</a:t>
            </a:fld>
            <a:endParaRPr lang="en-US"/>
          </a:p>
        </p:txBody>
      </p:sp>
      <p:sp>
        <p:nvSpPr>
          <p:cNvPr id="6" name="Footer Placeholder 5">
            <a:extLst>
              <a:ext uri="{FF2B5EF4-FFF2-40B4-BE49-F238E27FC236}">
                <a16:creationId xmlns:a16="http://schemas.microsoft.com/office/drawing/2014/main" id="{AB33B971-70B1-0A66-06AC-E12511A36C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0CDD5B-AB7C-E9A6-5873-55244315942A}"/>
              </a:ext>
            </a:extLst>
          </p:cNvPr>
          <p:cNvSpPr>
            <a:spLocks noGrp="1"/>
          </p:cNvSpPr>
          <p:nvPr>
            <p:ph type="sldNum" sz="quarter" idx="12"/>
          </p:nvPr>
        </p:nvSpPr>
        <p:spPr/>
        <p:txBody>
          <a:bodyPr/>
          <a:lstStyle/>
          <a:p>
            <a:fld id="{15FF1336-DA51-4E71-BD57-AE556DD4D3D3}" type="slidenum">
              <a:rPr lang="en-US" smtClean="0"/>
              <a:t>‹#›</a:t>
            </a:fld>
            <a:endParaRPr lang="en-US"/>
          </a:p>
        </p:txBody>
      </p:sp>
    </p:spTree>
    <p:extLst>
      <p:ext uri="{BB962C8B-B14F-4D97-AF65-F5344CB8AC3E}">
        <p14:creationId xmlns:p14="http://schemas.microsoft.com/office/powerpoint/2010/main" val="241167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35C04-6013-5B8B-FF39-62FA50AD1AB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FF04329-B143-E750-AB2E-B4347BFDBD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6CA61F-9B7C-3F27-2A49-E96D8C069D52}"/>
              </a:ext>
            </a:extLst>
          </p:cNvPr>
          <p:cNvSpPr>
            <a:spLocks noGrp="1"/>
          </p:cNvSpPr>
          <p:nvPr>
            <p:ph type="dt" sz="half" idx="10"/>
          </p:nvPr>
        </p:nvSpPr>
        <p:spPr/>
        <p:txBody>
          <a:bodyPr/>
          <a:lstStyle/>
          <a:p>
            <a:fld id="{4991B27B-398A-4FB0-845D-523747543544}" type="datetimeFigureOut">
              <a:rPr lang="en-US" smtClean="0"/>
              <a:t>5/6/2025</a:t>
            </a:fld>
            <a:endParaRPr lang="en-US"/>
          </a:p>
        </p:txBody>
      </p:sp>
      <p:sp>
        <p:nvSpPr>
          <p:cNvPr id="5" name="Footer Placeholder 4">
            <a:extLst>
              <a:ext uri="{FF2B5EF4-FFF2-40B4-BE49-F238E27FC236}">
                <a16:creationId xmlns:a16="http://schemas.microsoft.com/office/drawing/2014/main" id="{BE7BCF4C-02FA-DA5D-C586-82A301061E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3BE892-18B6-551E-D813-2317BCE774E4}"/>
              </a:ext>
            </a:extLst>
          </p:cNvPr>
          <p:cNvSpPr>
            <a:spLocks noGrp="1"/>
          </p:cNvSpPr>
          <p:nvPr>
            <p:ph type="sldNum" sz="quarter" idx="12"/>
          </p:nvPr>
        </p:nvSpPr>
        <p:spPr/>
        <p:txBody>
          <a:bodyPr/>
          <a:lstStyle/>
          <a:p>
            <a:fld id="{15FF1336-DA51-4E71-BD57-AE556DD4D3D3}" type="slidenum">
              <a:rPr lang="en-US" smtClean="0"/>
              <a:t>‹#›</a:t>
            </a:fld>
            <a:endParaRPr lang="en-US"/>
          </a:p>
        </p:txBody>
      </p:sp>
    </p:spTree>
    <p:extLst>
      <p:ext uri="{BB962C8B-B14F-4D97-AF65-F5344CB8AC3E}">
        <p14:creationId xmlns:p14="http://schemas.microsoft.com/office/powerpoint/2010/main" val="3053131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8A5361-5942-4199-0EF8-F10F8BFADC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7BBB3F6-FA3B-C950-864C-DDCB940D54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C33F76-9D06-22FC-9C6B-F1670D65C4B0}"/>
              </a:ext>
            </a:extLst>
          </p:cNvPr>
          <p:cNvSpPr>
            <a:spLocks noGrp="1"/>
          </p:cNvSpPr>
          <p:nvPr>
            <p:ph type="dt" sz="half" idx="10"/>
          </p:nvPr>
        </p:nvSpPr>
        <p:spPr/>
        <p:txBody>
          <a:bodyPr/>
          <a:lstStyle/>
          <a:p>
            <a:fld id="{4991B27B-398A-4FB0-845D-523747543544}" type="datetimeFigureOut">
              <a:rPr lang="en-US" smtClean="0"/>
              <a:t>5/6/2025</a:t>
            </a:fld>
            <a:endParaRPr lang="en-US"/>
          </a:p>
        </p:txBody>
      </p:sp>
      <p:sp>
        <p:nvSpPr>
          <p:cNvPr id="5" name="Footer Placeholder 4">
            <a:extLst>
              <a:ext uri="{FF2B5EF4-FFF2-40B4-BE49-F238E27FC236}">
                <a16:creationId xmlns:a16="http://schemas.microsoft.com/office/drawing/2014/main" id="{8B27EF46-3DC2-E9AA-C4A1-8A9459EEFF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A830CF-E7B9-0CA4-530D-F9D84CC14083}"/>
              </a:ext>
            </a:extLst>
          </p:cNvPr>
          <p:cNvSpPr>
            <a:spLocks noGrp="1"/>
          </p:cNvSpPr>
          <p:nvPr>
            <p:ph type="sldNum" sz="quarter" idx="12"/>
          </p:nvPr>
        </p:nvSpPr>
        <p:spPr/>
        <p:txBody>
          <a:bodyPr/>
          <a:lstStyle/>
          <a:p>
            <a:fld id="{15FF1336-DA51-4E71-BD57-AE556DD4D3D3}" type="slidenum">
              <a:rPr lang="en-US" smtClean="0"/>
              <a:t>‹#›</a:t>
            </a:fld>
            <a:endParaRPr lang="en-US"/>
          </a:p>
        </p:txBody>
      </p:sp>
    </p:spTree>
    <p:extLst>
      <p:ext uri="{BB962C8B-B14F-4D97-AF65-F5344CB8AC3E}">
        <p14:creationId xmlns:p14="http://schemas.microsoft.com/office/powerpoint/2010/main" val="14066921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B3C820-385C-2E1B-8D45-F4C6D33AA0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14B7E77-CFF1-14C0-9CBB-57A65C0985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EF636C-85A9-0131-B793-27835A8046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991B27B-398A-4FB0-845D-523747543544}" type="datetimeFigureOut">
              <a:rPr lang="en-US" smtClean="0"/>
              <a:t>5/6/2025</a:t>
            </a:fld>
            <a:endParaRPr lang="en-US"/>
          </a:p>
        </p:txBody>
      </p:sp>
      <p:sp>
        <p:nvSpPr>
          <p:cNvPr id="5" name="Footer Placeholder 4">
            <a:extLst>
              <a:ext uri="{FF2B5EF4-FFF2-40B4-BE49-F238E27FC236}">
                <a16:creationId xmlns:a16="http://schemas.microsoft.com/office/drawing/2014/main" id="{F52D4637-EFC7-3EBB-04FD-2A2BAB8953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43481D8-5CFB-2B44-00CF-C4DDE6D205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5FF1336-DA51-4E71-BD57-AE556DD4D3D3}" type="slidenum">
              <a:rPr lang="en-US" smtClean="0"/>
              <a:t>‹#›</a:t>
            </a:fld>
            <a:endParaRPr lang="en-US"/>
          </a:p>
        </p:txBody>
      </p:sp>
    </p:spTree>
    <p:extLst>
      <p:ext uri="{BB962C8B-B14F-4D97-AF65-F5344CB8AC3E}">
        <p14:creationId xmlns:p14="http://schemas.microsoft.com/office/powerpoint/2010/main" val="9784506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01175-D130-2685-6642-DB4ED638766B}"/>
              </a:ext>
            </a:extLst>
          </p:cNvPr>
          <p:cNvSpPr>
            <a:spLocks noGrp="1"/>
          </p:cNvSpPr>
          <p:nvPr>
            <p:ph type="ctrTitle"/>
          </p:nvPr>
        </p:nvSpPr>
        <p:spPr/>
        <p:txBody>
          <a:bodyPr/>
          <a:lstStyle/>
          <a:p>
            <a:r>
              <a:rPr lang="en-US"/>
              <a:t>MSDAP Final Presentation</a:t>
            </a:r>
          </a:p>
        </p:txBody>
      </p:sp>
      <p:sp>
        <p:nvSpPr>
          <p:cNvPr id="3" name="Subtitle 2">
            <a:extLst>
              <a:ext uri="{FF2B5EF4-FFF2-40B4-BE49-F238E27FC236}">
                <a16:creationId xmlns:a16="http://schemas.microsoft.com/office/drawing/2014/main" id="{BD54319F-DA8A-D15B-A174-4E7A84668884}"/>
              </a:ext>
            </a:extLst>
          </p:cNvPr>
          <p:cNvSpPr>
            <a:spLocks noGrp="1"/>
          </p:cNvSpPr>
          <p:nvPr>
            <p:ph type="subTitle" idx="1"/>
          </p:nvPr>
        </p:nvSpPr>
        <p:spPr/>
        <p:txBody>
          <a:bodyPr/>
          <a:lstStyle/>
          <a:p>
            <a:r>
              <a:rPr lang="en-US"/>
              <a:t>Lamin Jammeh (DAL852207)</a:t>
            </a:r>
          </a:p>
          <a:p>
            <a:r>
              <a:rPr lang="en-US"/>
              <a:t>Caleb Perez (CXP180012)</a:t>
            </a:r>
          </a:p>
        </p:txBody>
      </p:sp>
    </p:spTree>
    <p:extLst>
      <p:ext uri="{BB962C8B-B14F-4D97-AF65-F5344CB8AC3E}">
        <p14:creationId xmlns:p14="http://schemas.microsoft.com/office/powerpoint/2010/main" val="38426463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6B48C-B701-7305-591B-9D1E8543B7DB}"/>
              </a:ext>
            </a:extLst>
          </p:cNvPr>
          <p:cNvSpPr>
            <a:spLocks noGrp="1"/>
          </p:cNvSpPr>
          <p:nvPr>
            <p:ph type="title"/>
          </p:nvPr>
        </p:nvSpPr>
        <p:spPr/>
        <p:txBody>
          <a:bodyPr/>
          <a:lstStyle/>
          <a:p>
            <a:r>
              <a:rPr lang="en-US"/>
              <a:t>MSDAP Architecture</a:t>
            </a:r>
          </a:p>
        </p:txBody>
      </p:sp>
      <p:pic>
        <p:nvPicPr>
          <p:cNvPr id="10" name="Content Placeholder 9">
            <a:extLst>
              <a:ext uri="{FF2B5EF4-FFF2-40B4-BE49-F238E27FC236}">
                <a16:creationId xmlns:a16="http://schemas.microsoft.com/office/drawing/2014/main" id="{C0165D30-FF9B-6F26-205E-D6383B21F81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6372" y="1345325"/>
            <a:ext cx="9799255" cy="5362411"/>
          </a:xfrm>
        </p:spPr>
      </p:pic>
      <p:cxnSp>
        <p:nvCxnSpPr>
          <p:cNvPr id="12" name="Straight Arrow Connector 11">
            <a:extLst>
              <a:ext uri="{FF2B5EF4-FFF2-40B4-BE49-F238E27FC236}">
                <a16:creationId xmlns:a16="http://schemas.microsoft.com/office/drawing/2014/main" id="{35425B4F-44F2-E3CB-3E1A-6C8DDEB2B760}"/>
              </a:ext>
            </a:extLst>
          </p:cNvPr>
          <p:cNvCxnSpPr>
            <a:cxnSpLocks/>
          </p:cNvCxnSpPr>
          <p:nvPr/>
        </p:nvCxnSpPr>
        <p:spPr>
          <a:xfrm>
            <a:off x="1150883" y="1587062"/>
            <a:ext cx="328448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02E593D0-2B84-C23C-C431-1CA631114C77}"/>
              </a:ext>
            </a:extLst>
          </p:cNvPr>
          <p:cNvCxnSpPr/>
          <p:nvPr/>
        </p:nvCxnSpPr>
        <p:spPr>
          <a:xfrm>
            <a:off x="4445876" y="1581807"/>
            <a:ext cx="0" cy="40885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40BA16DB-4803-9668-0946-C6679752EF48}"/>
              </a:ext>
            </a:extLst>
          </p:cNvPr>
          <p:cNvCxnSpPr/>
          <p:nvPr/>
        </p:nvCxnSpPr>
        <p:spPr>
          <a:xfrm flipV="1">
            <a:off x="4703379" y="1587062"/>
            <a:ext cx="0" cy="40727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FF5E7ED1-F840-1ABF-A3EC-9FFB4E25F986}"/>
              </a:ext>
            </a:extLst>
          </p:cNvPr>
          <p:cNvCxnSpPr>
            <a:cxnSpLocks/>
          </p:cNvCxnSpPr>
          <p:nvPr/>
        </p:nvCxnSpPr>
        <p:spPr>
          <a:xfrm>
            <a:off x="4724400" y="1581807"/>
            <a:ext cx="452470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CB267001-31CD-5874-BF83-DDA8DF9A4888}"/>
              </a:ext>
            </a:extLst>
          </p:cNvPr>
          <p:cNvCxnSpPr>
            <a:cxnSpLocks/>
          </p:cNvCxnSpPr>
          <p:nvPr/>
        </p:nvCxnSpPr>
        <p:spPr>
          <a:xfrm>
            <a:off x="9249103" y="1581807"/>
            <a:ext cx="0" cy="47979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Rectangle: Rounded Corners 24">
            <a:extLst>
              <a:ext uri="{FF2B5EF4-FFF2-40B4-BE49-F238E27FC236}">
                <a16:creationId xmlns:a16="http://schemas.microsoft.com/office/drawing/2014/main" id="{9E8BC5FA-A8DB-2649-AEDD-C970C880D6D0}"/>
              </a:ext>
            </a:extLst>
          </p:cNvPr>
          <p:cNvSpPr/>
          <p:nvPr/>
        </p:nvSpPr>
        <p:spPr>
          <a:xfrm>
            <a:off x="3389586" y="2519745"/>
            <a:ext cx="2885090" cy="386003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nvGrpSpPr>
          <p:cNvPr id="33" name="Group 32">
            <a:extLst>
              <a:ext uri="{FF2B5EF4-FFF2-40B4-BE49-F238E27FC236}">
                <a16:creationId xmlns:a16="http://schemas.microsoft.com/office/drawing/2014/main" id="{FE7889D4-F39A-AF2F-1F3F-57B8C6371783}"/>
              </a:ext>
            </a:extLst>
          </p:cNvPr>
          <p:cNvGrpSpPr/>
          <p:nvPr/>
        </p:nvGrpSpPr>
        <p:grpSpPr>
          <a:xfrm>
            <a:off x="9911255" y="337358"/>
            <a:ext cx="2280745" cy="555296"/>
            <a:chOff x="9722069" y="739262"/>
            <a:chExt cx="2280745" cy="555296"/>
          </a:xfrm>
        </p:grpSpPr>
        <p:cxnSp>
          <p:nvCxnSpPr>
            <p:cNvPr id="27" name="Straight Arrow Connector 26">
              <a:extLst>
                <a:ext uri="{FF2B5EF4-FFF2-40B4-BE49-F238E27FC236}">
                  <a16:creationId xmlns:a16="http://schemas.microsoft.com/office/drawing/2014/main" id="{1D564855-5FC9-82AC-248C-45739D4DCFAC}"/>
                </a:ext>
              </a:extLst>
            </p:cNvPr>
            <p:cNvCxnSpPr>
              <a:cxnSpLocks/>
            </p:cNvCxnSpPr>
            <p:nvPr/>
          </p:nvCxnSpPr>
          <p:spPr>
            <a:xfrm>
              <a:off x="9722069" y="898416"/>
              <a:ext cx="71470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Rectangle: Rounded Corners 28">
              <a:extLst>
                <a:ext uri="{FF2B5EF4-FFF2-40B4-BE49-F238E27FC236}">
                  <a16:creationId xmlns:a16="http://schemas.microsoft.com/office/drawing/2014/main" id="{7DE38564-E183-90C1-F3C6-50758E30A156}"/>
                </a:ext>
              </a:extLst>
            </p:cNvPr>
            <p:cNvSpPr/>
            <p:nvPr/>
          </p:nvSpPr>
          <p:spPr>
            <a:xfrm>
              <a:off x="9887606" y="1052296"/>
              <a:ext cx="415160" cy="149882"/>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0" name="TextBox 29">
              <a:extLst>
                <a:ext uri="{FF2B5EF4-FFF2-40B4-BE49-F238E27FC236}">
                  <a16:creationId xmlns:a16="http://schemas.microsoft.com/office/drawing/2014/main" id="{D8122751-A8D6-AB46-9199-43247A643609}"/>
                </a:ext>
              </a:extLst>
            </p:cNvPr>
            <p:cNvSpPr txBox="1"/>
            <p:nvPr/>
          </p:nvSpPr>
          <p:spPr>
            <a:xfrm>
              <a:off x="10484070" y="739262"/>
              <a:ext cx="1518744" cy="307777"/>
            </a:xfrm>
            <a:prstGeom prst="rect">
              <a:avLst/>
            </a:prstGeom>
            <a:noFill/>
          </p:spPr>
          <p:txBody>
            <a:bodyPr wrap="square" rtlCol="0">
              <a:spAutoFit/>
            </a:bodyPr>
            <a:lstStyle/>
            <a:p>
              <a:r>
                <a:rPr lang="en-US" sz="1400"/>
                <a:t>Datapath</a:t>
              </a:r>
            </a:p>
          </p:txBody>
        </p:sp>
        <p:sp>
          <p:nvSpPr>
            <p:cNvPr id="31" name="TextBox 30">
              <a:extLst>
                <a:ext uri="{FF2B5EF4-FFF2-40B4-BE49-F238E27FC236}">
                  <a16:creationId xmlns:a16="http://schemas.microsoft.com/office/drawing/2014/main" id="{74336233-6368-E8E0-18BE-E5EEC6D5D044}"/>
                </a:ext>
              </a:extLst>
            </p:cNvPr>
            <p:cNvSpPr txBox="1"/>
            <p:nvPr/>
          </p:nvSpPr>
          <p:spPr>
            <a:xfrm>
              <a:off x="10480128" y="986781"/>
              <a:ext cx="1103586" cy="307777"/>
            </a:xfrm>
            <a:prstGeom prst="rect">
              <a:avLst/>
            </a:prstGeom>
            <a:noFill/>
          </p:spPr>
          <p:txBody>
            <a:bodyPr wrap="square" rtlCol="0">
              <a:spAutoFit/>
            </a:bodyPr>
            <a:lstStyle/>
            <a:p>
              <a:r>
                <a:rPr lang="en-US" sz="1400"/>
                <a:t>Memories</a:t>
              </a:r>
            </a:p>
          </p:txBody>
        </p:sp>
      </p:grpSp>
      <p:sp>
        <p:nvSpPr>
          <p:cNvPr id="34" name="Star: 5 Points 33">
            <a:extLst>
              <a:ext uri="{FF2B5EF4-FFF2-40B4-BE49-F238E27FC236}">
                <a16:creationId xmlns:a16="http://schemas.microsoft.com/office/drawing/2014/main" id="{DFF4AB02-4783-ACE0-EA1E-FE68F4D2894F}"/>
              </a:ext>
            </a:extLst>
          </p:cNvPr>
          <p:cNvSpPr/>
          <p:nvPr/>
        </p:nvSpPr>
        <p:spPr>
          <a:xfrm>
            <a:off x="2171032" y="3384884"/>
            <a:ext cx="374315" cy="326190"/>
          </a:xfrm>
          <a:prstGeom prst="star5">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Star: 5 Points 34">
            <a:extLst>
              <a:ext uri="{FF2B5EF4-FFF2-40B4-BE49-F238E27FC236}">
                <a16:creationId xmlns:a16="http://schemas.microsoft.com/office/drawing/2014/main" id="{ABDEE1DB-DA9A-9D9D-F9AC-C830172904BE}"/>
              </a:ext>
            </a:extLst>
          </p:cNvPr>
          <p:cNvSpPr/>
          <p:nvPr/>
        </p:nvSpPr>
        <p:spPr>
          <a:xfrm>
            <a:off x="6814760" y="3374189"/>
            <a:ext cx="374315" cy="326190"/>
          </a:xfrm>
          <a:prstGeom prst="star5">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Star: 5 Points 35">
            <a:extLst>
              <a:ext uri="{FF2B5EF4-FFF2-40B4-BE49-F238E27FC236}">
                <a16:creationId xmlns:a16="http://schemas.microsoft.com/office/drawing/2014/main" id="{FA51CB15-D280-03B1-5B42-6136148B285A}"/>
              </a:ext>
            </a:extLst>
          </p:cNvPr>
          <p:cNvSpPr/>
          <p:nvPr/>
        </p:nvSpPr>
        <p:spPr>
          <a:xfrm>
            <a:off x="10097214" y="961703"/>
            <a:ext cx="374315" cy="326190"/>
          </a:xfrm>
          <a:prstGeom prst="star5">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D49F153A-3681-E3BB-EBDB-9099E8B23597}"/>
              </a:ext>
            </a:extLst>
          </p:cNvPr>
          <p:cNvSpPr txBox="1"/>
          <p:nvPr/>
        </p:nvSpPr>
        <p:spPr>
          <a:xfrm>
            <a:off x="10669314" y="999405"/>
            <a:ext cx="1518744" cy="307777"/>
          </a:xfrm>
          <a:prstGeom prst="rect">
            <a:avLst/>
          </a:prstGeom>
          <a:noFill/>
        </p:spPr>
        <p:txBody>
          <a:bodyPr wrap="square" rtlCol="0">
            <a:spAutoFit/>
          </a:bodyPr>
          <a:lstStyle/>
          <a:p>
            <a:r>
              <a:rPr lang="en-US" sz="1400"/>
              <a:t>Controller</a:t>
            </a:r>
          </a:p>
        </p:txBody>
      </p:sp>
    </p:spTree>
    <p:extLst>
      <p:ext uri="{BB962C8B-B14F-4D97-AF65-F5344CB8AC3E}">
        <p14:creationId xmlns:p14="http://schemas.microsoft.com/office/powerpoint/2010/main" val="34295281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F278E-C87E-CFE8-D555-52A5A7E51FE2}"/>
              </a:ext>
            </a:extLst>
          </p:cNvPr>
          <p:cNvSpPr>
            <a:spLocks noGrp="1"/>
          </p:cNvSpPr>
          <p:nvPr>
            <p:ph type="title"/>
          </p:nvPr>
        </p:nvSpPr>
        <p:spPr/>
        <p:txBody>
          <a:bodyPr/>
          <a:lstStyle/>
          <a:p>
            <a:r>
              <a:rPr lang="en-US"/>
              <a:t>MSDAP Architecture</a:t>
            </a:r>
          </a:p>
        </p:txBody>
      </p:sp>
      <p:sp>
        <p:nvSpPr>
          <p:cNvPr id="3" name="Content Placeholder 2">
            <a:extLst>
              <a:ext uri="{FF2B5EF4-FFF2-40B4-BE49-F238E27FC236}">
                <a16:creationId xmlns:a16="http://schemas.microsoft.com/office/drawing/2014/main" id="{946CF23D-D188-25D2-973F-14DE97764F6A}"/>
              </a:ext>
            </a:extLst>
          </p:cNvPr>
          <p:cNvSpPr>
            <a:spLocks noGrp="1"/>
          </p:cNvSpPr>
          <p:nvPr>
            <p:ph idx="1"/>
          </p:nvPr>
        </p:nvSpPr>
        <p:spPr/>
        <p:txBody>
          <a:bodyPr/>
          <a:lstStyle/>
          <a:p>
            <a:r>
              <a:rPr lang="en-US"/>
              <a:t>Built as a hearing aid that processes input audio and outputs filtered audio to the user using a digital FIR convolution.</a:t>
            </a:r>
          </a:p>
          <a:p>
            <a:pPr lvl="1"/>
            <a:r>
              <a:rPr lang="en-US"/>
              <a:t>High priority is low power consumption, as it is not meant to be plugged in and will run on a small battery.</a:t>
            </a:r>
          </a:p>
          <a:p>
            <a:r>
              <a:rPr lang="en-US"/>
              <a:t>Two-process circuit</a:t>
            </a:r>
          </a:p>
          <a:p>
            <a:pPr lvl="1"/>
            <a:r>
              <a:rPr lang="en-US"/>
              <a:t>Keeps data path and control paths separate and distinct. (Previous slide)</a:t>
            </a:r>
          </a:p>
          <a:p>
            <a:r>
              <a:rPr lang="en-US"/>
              <a:t>Both Main Controller and ALU Controller are FSMs.</a:t>
            </a:r>
          </a:p>
          <a:p>
            <a:pPr lvl="1"/>
            <a:r>
              <a:rPr lang="en-US"/>
              <a:t>Allows for easy and distinct input-based control of the outputs.</a:t>
            </a:r>
          </a:p>
          <a:p>
            <a:r>
              <a:rPr lang="en-US"/>
              <a:t>Layout must be as small as possible as it should fit within the ear.</a:t>
            </a:r>
          </a:p>
        </p:txBody>
      </p:sp>
    </p:spTree>
    <p:extLst>
      <p:ext uri="{BB962C8B-B14F-4D97-AF65-F5344CB8AC3E}">
        <p14:creationId xmlns:p14="http://schemas.microsoft.com/office/powerpoint/2010/main" val="1043781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F36DE-C5CA-FDE6-5A17-0F21A5C0D0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DD6E15-A0E2-ABEF-79B9-33DBA3A2235A}"/>
              </a:ext>
            </a:extLst>
          </p:cNvPr>
          <p:cNvSpPr>
            <a:spLocks noGrp="1"/>
          </p:cNvSpPr>
          <p:nvPr>
            <p:ph type="title"/>
          </p:nvPr>
        </p:nvSpPr>
        <p:spPr/>
        <p:txBody>
          <a:bodyPr/>
          <a:lstStyle/>
          <a:p>
            <a:r>
              <a:rPr lang="en-US"/>
              <a:t>Original Code</a:t>
            </a:r>
          </a:p>
        </p:txBody>
      </p:sp>
      <p:sp>
        <p:nvSpPr>
          <p:cNvPr id="4" name="Content Placeholder 3">
            <a:extLst>
              <a:ext uri="{FF2B5EF4-FFF2-40B4-BE49-F238E27FC236}">
                <a16:creationId xmlns:a16="http://schemas.microsoft.com/office/drawing/2014/main" id="{2B791EEB-ECF4-BB72-D65C-5F4974447B3C}"/>
              </a:ext>
            </a:extLst>
          </p:cNvPr>
          <p:cNvSpPr>
            <a:spLocks noGrp="1"/>
          </p:cNvSpPr>
          <p:nvPr>
            <p:ph sz="half" idx="1"/>
          </p:nvPr>
        </p:nvSpPr>
        <p:spPr/>
        <p:txBody>
          <a:bodyPr>
            <a:normAutofit/>
          </a:bodyPr>
          <a:lstStyle/>
          <a:p>
            <a:r>
              <a:rPr lang="en-US"/>
              <a:t>Our original code was validated as far as State 6.</a:t>
            </a:r>
          </a:p>
          <a:p>
            <a:pPr lvl="1"/>
            <a:r>
              <a:rPr lang="en-US"/>
              <a:t>This means that we were able to store and recall data from the memories accordingly.</a:t>
            </a:r>
          </a:p>
          <a:p>
            <a:r>
              <a:rPr lang="en-US"/>
              <a:t>Could not get a proper output through the ALU data path.</a:t>
            </a:r>
          </a:p>
          <a:p>
            <a:pPr lvl="1"/>
            <a:r>
              <a:rPr lang="en-US"/>
              <a:t>Due to lack of proficiency in coding Verilog. Could not properly execute ALU sub-block actions in order.</a:t>
            </a:r>
          </a:p>
        </p:txBody>
      </p:sp>
      <p:pic>
        <p:nvPicPr>
          <p:cNvPr id="7" name="Content Placeholder 6">
            <a:extLst>
              <a:ext uri="{FF2B5EF4-FFF2-40B4-BE49-F238E27FC236}">
                <a16:creationId xmlns:a16="http://schemas.microsoft.com/office/drawing/2014/main" id="{4663EC3E-B55D-DE5A-938A-E4D818D5E3A3}"/>
              </a:ext>
            </a:extLst>
          </p:cNvPr>
          <p:cNvPicPr>
            <a:picLocks noGrp="1" noChangeAspect="1"/>
          </p:cNvPicPr>
          <p:nvPr>
            <p:ph sz="half" idx="2"/>
          </p:nvPr>
        </p:nvPicPr>
        <p:blipFill>
          <a:blip r:embed="rId3"/>
          <a:stretch>
            <a:fillRect/>
          </a:stretch>
        </p:blipFill>
        <p:spPr>
          <a:xfrm>
            <a:off x="6865342" y="1030936"/>
            <a:ext cx="4488458" cy="5146027"/>
          </a:xfrm>
        </p:spPr>
      </p:pic>
      <p:sp>
        <p:nvSpPr>
          <p:cNvPr id="8" name="Star: 5 Points 7">
            <a:extLst>
              <a:ext uri="{FF2B5EF4-FFF2-40B4-BE49-F238E27FC236}">
                <a16:creationId xmlns:a16="http://schemas.microsoft.com/office/drawing/2014/main" id="{4E8C3268-E0F0-2231-CC0E-30ABE30F6901}"/>
              </a:ext>
            </a:extLst>
          </p:cNvPr>
          <p:cNvSpPr/>
          <p:nvPr/>
        </p:nvSpPr>
        <p:spPr>
          <a:xfrm>
            <a:off x="9109571" y="4724400"/>
            <a:ext cx="278524" cy="246993"/>
          </a:xfrm>
          <a:prstGeom prst="star5">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9548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6012E-7A82-F5AA-DA55-265E15E56872}"/>
              </a:ext>
            </a:extLst>
          </p:cNvPr>
          <p:cNvSpPr>
            <a:spLocks noGrp="1"/>
          </p:cNvSpPr>
          <p:nvPr>
            <p:ph type="title"/>
          </p:nvPr>
        </p:nvSpPr>
        <p:spPr/>
        <p:txBody>
          <a:bodyPr/>
          <a:lstStyle/>
          <a:p>
            <a:r>
              <a:rPr lang="en-US"/>
              <a:t>Original Code Simulations</a:t>
            </a:r>
          </a:p>
        </p:txBody>
      </p:sp>
      <p:pic>
        <p:nvPicPr>
          <p:cNvPr id="6" name="Content Placeholder 5">
            <a:extLst>
              <a:ext uri="{FF2B5EF4-FFF2-40B4-BE49-F238E27FC236}">
                <a16:creationId xmlns:a16="http://schemas.microsoft.com/office/drawing/2014/main" id="{C7151739-FF54-47FB-63F6-86B565F0B247}"/>
              </a:ext>
            </a:extLst>
          </p:cNvPr>
          <p:cNvPicPr>
            <a:picLocks noGrp="1" noChangeAspect="1"/>
          </p:cNvPicPr>
          <p:nvPr>
            <p:ph sz="half" idx="1"/>
          </p:nvPr>
        </p:nvPicPr>
        <p:blipFill>
          <a:blip r:embed="rId3"/>
          <a:stretch>
            <a:fillRect/>
          </a:stretch>
        </p:blipFill>
        <p:spPr>
          <a:xfrm>
            <a:off x="501869" y="1450698"/>
            <a:ext cx="8142890" cy="4842956"/>
          </a:xfrm>
        </p:spPr>
      </p:pic>
      <p:sp>
        <p:nvSpPr>
          <p:cNvPr id="4" name="Content Placeholder 3">
            <a:extLst>
              <a:ext uri="{FF2B5EF4-FFF2-40B4-BE49-F238E27FC236}">
                <a16:creationId xmlns:a16="http://schemas.microsoft.com/office/drawing/2014/main" id="{F2780689-593C-15E9-DF5E-72BDCDF13EEB}"/>
              </a:ext>
            </a:extLst>
          </p:cNvPr>
          <p:cNvSpPr>
            <a:spLocks noGrp="1"/>
          </p:cNvSpPr>
          <p:nvPr>
            <p:ph sz="half" idx="2"/>
          </p:nvPr>
        </p:nvSpPr>
        <p:spPr>
          <a:xfrm>
            <a:off x="8718331" y="1568122"/>
            <a:ext cx="3221420" cy="4351338"/>
          </a:xfrm>
        </p:spPr>
        <p:txBody>
          <a:bodyPr>
            <a:normAutofit/>
          </a:bodyPr>
          <a:lstStyle/>
          <a:p>
            <a:pPr marL="0" indent="0">
              <a:buNone/>
            </a:pPr>
            <a:r>
              <a:rPr lang="en-US" sz="1800"/>
              <a:t>Here we can see that our original code was successful in processing the initial RJ, Coeff, and Input Data, as well as providing said data while the ALU is attempting to process data.</a:t>
            </a:r>
          </a:p>
          <a:p>
            <a:pPr marL="0" indent="0">
              <a:buNone/>
            </a:pPr>
            <a:endParaRPr lang="en-US" sz="1800"/>
          </a:p>
          <a:p>
            <a:pPr marL="0" indent="0">
              <a:buNone/>
            </a:pPr>
            <a:endParaRPr lang="en-US" sz="1800"/>
          </a:p>
          <a:p>
            <a:pPr marL="0" indent="0">
              <a:buNone/>
            </a:pPr>
            <a:r>
              <a:rPr lang="en-US" sz="1800"/>
              <a:t>We did make a testbench for the MSDAP, as well as testbenches for every block. This waveform is from the MSDAP testbench.</a:t>
            </a:r>
          </a:p>
          <a:p>
            <a:pPr marL="0" indent="0">
              <a:buNone/>
            </a:pPr>
            <a:endParaRPr lang="en-US" sz="1600"/>
          </a:p>
          <a:p>
            <a:pPr marL="0" indent="0">
              <a:buNone/>
            </a:pPr>
            <a:endParaRPr lang="en-US" sz="1600"/>
          </a:p>
        </p:txBody>
      </p:sp>
      <p:sp>
        <p:nvSpPr>
          <p:cNvPr id="8" name="Rectangle: Rounded Corners 7">
            <a:extLst>
              <a:ext uri="{FF2B5EF4-FFF2-40B4-BE49-F238E27FC236}">
                <a16:creationId xmlns:a16="http://schemas.microsoft.com/office/drawing/2014/main" id="{DBBE0956-CC79-55DE-7DFE-4E81AC810910}"/>
              </a:ext>
            </a:extLst>
          </p:cNvPr>
          <p:cNvSpPr/>
          <p:nvPr/>
        </p:nvSpPr>
        <p:spPr>
          <a:xfrm>
            <a:off x="2879834" y="2275490"/>
            <a:ext cx="420414" cy="646386"/>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FD678B75-7877-0C53-1E6E-6FC5DC0BF3A3}"/>
              </a:ext>
            </a:extLst>
          </p:cNvPr>
          <p:cNvSpPr/>
          <p:nvPr/>
        </p:nvSpPr>
        <p:spPr>
          <a:xfrm>
            <a:off x="3058510" y="2903483"/>
            <a:ext cx="2480442" cy="646386"/>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42B90EAD-C59E-5A5E-B2A1-C7B7B8C6FB30}"/>
              </a:ext>
            </a:extLst>
          </p:cNvPr>
          <p:cNvSpPr/>
          <p:nvPr/>
        </p:nvSpPr>
        <p:spPr>
          <a:xfrm>
            <a:off x="5249918" y="3531476"/>
            <a:ext cx="3394841" cy="646386"/>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E8F72710-A609-E825-B996-206DA144A5EB}"/>
              </a:ext>
            </a:extLst>
          </p:cNvPr>
          <p:cNvCxnSpPr>
            <a:cxnSpLocks/>
          </p:cNvCxnSpPr>
          <p:nvPr/>
        </p:nvCxnSpPr>
        <p:spPr>
          <a:xfrm flipH="1">
            <a:off x="3426374" y="2598683"/>
            <a:ext cx="961696"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6DE0386D-36C8-45C4-A974-85D147B54C94}"/>
              </a:ext>
            </a:extLst>
          </p:cNvPr>
          <p:cNvCxnSpPr>
            <a:cxnSpLocks/>
          </p:cNvCxnSpPr>
          <p:nvPr/>
        </p:nvCxnSpPr>
        <p:spPr>
          <a:xfrm flipH="1">
            <a:off x="5659822" y="3159672"/>
            <a:ext cx="882868"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FD786CFB-9985-6F02-C69F-D7321866CBF3}"/>
              </a:ext>
            </a:extLst>
          </p:cNvPr>
          <p:cNvCxnSpPr>
            <a:cxnSpLocks/>
          </p:cNvCxnSpPr>
          <p:nvPr/>
        </p:nvCxnSpPr>
        <p:spPr>
          <a:xfrm flipH="1">
            <a:off x="8797160" y="3872176"/>
            <a:ext cx="620109"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CA0B3CDD-8F09-4510-63B4-307EF0C65B3C}"/>
              </a:ext>
            </a:extLst>
          </p:cNvPr>
          <p:cNvSpPr txBox="1"/>
          <p:nvPr/>
        </p:nvSpPr>
        <p:spPr>
          <a:xfrm>
            <a:off x="4472152" y="2406869"/>
            <a:ext cx="1581807" cy="369389"/>
          </a:xfrm>
          <a:prstGeom prst="rect">
            <a:avLst/>
          </a:prstGeom>
          <a:solidFill>
            <a:schemeClr val="bg1"/>
          </a:solidFill>
        </p:spPr>
        <p:txBody>
          <a:bodyPr wrap="square" rtlCol="0">
            <a:spAutoFit/>
          </a:bodyPr>
          <a:lstStyle/>
          <a:p>
            <a:r>
              <a:rPr lang="en-US">
                <a:solidFill>
                  <a:srgbClr val="FF0000"/>
                </a:solidFill>
              </a:rPr>
              <a:t>RJ Processing</a:t>
            </a:r>
          </a:p>
        </p:txBody>
      </p:sp>
      <p:sp>
        <p:nvSpPr>
          <p:cNvPr id="20" name="TextBox 19">
            <a:extLst>
              <a:ext uri="{FF2B5EF4-FFF2-40B4-BE49-F238E27FC236}">
                <a16:creationId xmlns:a16="http://schemas.microsoft.com/office/drawing/2014/main" id="{4E5551BE-2001-C61F-67FE-B71E9408DF28}"/>
              </a:ext>
            </a:extLst>
          </p:cNvPr>
          <p:cNvSpPr txBox="1"/>
          <p:nvPr/>
        </p:nvSpPr>
        <p:spPr>
          <a:xfrm>
            <a:off x="6663560" y="2933913"/>
            <a:ext cx="1902371" cy="369332"/>
          </a:xfrm>
          <a:prstGeom prst="rect">
            <a:avLst/>
          </a:prstGeom>
          <a:solidFill>
            <a:schemeClr val="bg1"/>
          </a:solidFill>
        </p:spPr>
        <p:txBody>
          <a:bodyPr wrap="square" rtlCol="0">
            <a:spAutoFit/>
          </a:bodyPr>
          <a:lstStyle/>
          <a:p>
            <a:r>
              <a:rPr lang="en-US">
                <a:solidFill>
                  <a:srgbClr val="FF0000"/>
                </a:solidFill>
              </a:rPr>
              <a:t>Coeff Processing</a:t>
            </a:r>
          </a:p>
        </p:txBody>
      </p:sp>
      <p:sp>
        <p:nvSpPr>
          <p:cNvPr id="21" name="TextBox 20">
            <a:extLst>
              <a:ext uri="{FF2B5EF4-FFF2-40B4-BE49-F238E27FC236}">
                <a16:creationId xmlns:a16="http://schemas.microsoft.com/office/drawing/2014/main" id="{48967689-B836-9553-DA94-8E66C21DAB16}"/>
              </a:ext>
            </a:extLst>
          </p:cNvPr>
          <p:cNvSpPr txBox="1"/>
          <p:nvPr/>
        </p:nvSpPr>
        <p:spPr>
          <a:xfrm>
            <a:off x="9490841" y="3687481"/>
            <a:ext cx="2144111" cy="369332"/>
          </a:xfrm>
          <a:prstGeom prst="rect">
            <a:avLst/>
          </a:prstGeom>
          <a:solidFill>
            <a:schemeClr val="bg1"/>
          </a:solidFill>
        </p:spPr>
        <p:txBody>
          <a:bodyPr wrap="square" rtlCol="0">
            <a:spAutoFit/>
          </a:bodyPr>
          <a:lstStyle/>
          <a:p>
            <a:r>
              <a:rPr lang="en-US">
                <a:solidFill>
                  <a:srgbClr val="FF0000"/>
                </a:solidFill>
              </a:rPr>
              <a:t>Data Processing</a:t>
            </a:r>
          </a:p>
        </p:txBody>
      </p:sp>
      <p:sp>
        <p:nvSpPr>
          <p:cNvPr id="23" name="Rectangle: Rounded Corners 22">
            <a:extLst>
              <a:ext uri="{FF2B5EF4-FFF2-40B4-BE49-F238E27FC236}">
                <a16:creationId xmlns:a16="http://schemas.microsoft.com/office/drawing/2014/main" id="{00F0876B-3751-3E39-6544-8E677F88E62F}"/>
              </a:ext>
            </a:extLst>
          </p:cNvPr>
          <p:cNvSpPr/>
          <p:nvPr/>
        </p:nvSpPr>
        <p:spPr>
          <a:xfrm>
            <a:off x="6279931" y="5790495"/>
            <a:ext cx="2469931" cy="646386"/>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FF4B5D7B-D733-D3FE-EE53-EDD8A7E24237}"/>
              </a:ext>
            </a:extLst>
          </p:cNvPr>
          <p:cNvCxnSpPr>
            <a:cxnSpLocks/>
          </p:cNvCxnSpPr>
          <p:nvPr/>
        </p:nvCxnSpPr>
        <p:spPr>
          <a:xfrm flipH="1">
            <a:off x="8875988" y="6113688"/>
            <a:ext cx="961696"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F7E42EDF-FAD3-219A-8C2E-786DF0DD60D1}"/>
              </a:ext>
            </a:extLst>
          </p:cNvPr>
          <p:cNvSpPr txBox="1"/>
          <p:nvPr/>
        </p:nvSpPr>
        <p:spPr>
          <a:xfrm>
            <a:off x="9921766" y="5921874"/>
            <a:ext cx="1581807" cy="646331"/>
          </a:xfrm>
          <a:prstGeom prst="rect">
            <a:avLst/>
          </a:prstGeom>
          <a:solidFill>
            <a:schemeClr val="bg1"/>
          </a:solidFill>
        </p:spPr>
        <p:txBody>
          <a:bodyPr wrap="square" rtlCol="0">
            <a:spAutoFit/>
          </a:bodyPr>
          <a:lstStyle/>
          <a:p>
            <a:r>
              <a:rPr lang="en-US">
                <a:solidFill>
                  <a:srgbClr val="FF0000"/>
                </a:solidFill>
              </a:rPr>
              <a:t>RJ Readback into ALU</a:t>
            </a:r>
          </a:p>
        </p:txBody>
      </p:sp>
    </p:spTree>
    <p:extLst>
      <p:ext uri="{BB962C8B-B14F-4D97-AF65-F5344CB8AC3E}">
        <p14:creationId xmlns:p14="http://schemas.microsoft.com/office/powerpoint/2010/main" val="2359334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0EA70-EA5C-A908-0800-87B73D367983}"/>
              </a:ext>
            </a:extLst>
          </p:cNvPr>
          <p:cNvSpPr>
            <a:spLocks noGrp="1"/>
          </p:cNvSpPr>
          <p:nvPr>
            <p:ph type="title"/>
          </p:nvPr>
        </p:nvSpPr>
        <p:spPr/>
        <p:txBody>
          <a:bodyPr/>
          <a:lstStyle/>
          <a:p>
            <a:r>
              <a:rPr lang="en-US"/>
              <a:t>Utilization of Provided Code</a:t>
            </a:r>
          </a:p>
        </p:txBody>
      </p:sp>
      <p:sp>
        <p:nvSpPr>
          <p:cNvPr id="3" name="Content Placeholder 2">
            <a:extLst>
              <a:ext uri="{FF2B5EF4-FFF2-40B4-BE49-F238E27FC236}">
                <a16:creationId xmlns:a16="http://schemas.microsoft.com/office/drawing/2014/main" id="{98200DCF-D774-1559-A4A1-C14CB6383D9B}"/>
              </a:ext>
            </a:extLst>
          </p:cNvPr>
          <p:cNvSpPr>
            <a:spLocks noGrp="1"/>
          </p:cNvSpPr>
          <p:nvPr>
            <p:ph sz="half" idx="1"/>
          </p:nvPr>
        </p:nvSpPr>
        <p:spPr/>
        <p:txBody>
          <a:bodyPr/>
          <a:lstStyle/>
          <a:p>
            <a:r>
              <a:rPr lang="en-US"/>
              <a:t>Decision was made to utilize code provided by the TA.</a:t>
            </a:r>
          </a:p>
          <a:p>
            <a:r>
              <a:rPr lang="en-US"/>
              <a:t>Would allow us to continue with layout and finish the project.</a:t>
            </a:r>
          </a:p>
          <a:p>
            <a:r>
              <a:rPr lang="en-US"/>
              <a:t>Verified provided code output by comparing given data1.out to generated data1.out (Snippet shown on the right)</a:t>
            </a:r>
          </a:p>
        </p:txBody>
      </p:sp>
      <p:pic>
        <p:nvPicPr>
          <p:cNvPr id="6" name="Content Placeholder 5">
            <a:extLst>
              <a:ext uri="{FF2B5EF4-FFF2-40B4-BE49-F238E27FC236}">
                <a16:creationId xmlns:a16="http://schemas.microsoft.com/office/drawing/2014/main" id="{6D45434F-4FF1-08C7-8CCF-6D54A65DE9D9}"/>
              </a:ext>
            </a:extLst>
          </p:cNvPr>
          <p:cNvPicPr>
            <a:picLocks noGrp="1" noChangeAspect="1"/>
          </p:cNvPicPr>
          <p:nvPr>
            <p:ph sz="half" idx="2"/>
          </p:nvPr>
        </p:nvPicPr>
        <p:blipFill>
          <a:blip r:embed="rId2"/>
          <a:stretch>
            <a:fillRect/>
          </a:stretch>
        </p:blipFill>
        <p:spPr>
          <a:xfrm>
            <a:off x="6324600" y="1602335"/>
            <a:ext cx="5181600" cy="2517171"/>
          </a:xfrm>
        </p:spPr>
      </p:pic>
      <p:pic>
        <p:nvPicPr>
          <p:cNvPr id="8" name="Picture 7">
            <a:extLst>
              <a:ext uri="{FF2B5EF4-FFF2-40B4-BE49-F238E27FC236}">
                <a16:creationId xmlns:a16="http://schemas.microsoft.com/office/drawing/2014/main" id="{8AA899DD-5B5E-927A-B6C7-774A77DC7041}"/>
              </a:ext>
            </a:extLst>
          </p:cNvPr>
          <p:cNvPicPr>
            <a:picLocks noChangeAspect="1"/>
          </p:cNvPicPr>
          <p:nvPr/>
        </p:nvPicPr>
        <p:blipFill>
          <a:blip r:embed="rId3"/>
          <a:stretch>
            <a:fillRect/>
          </a:stretch>
        </p:blipFill>
        <p:spPr>
          <a:xfrm>
            <a:off x="9124063" y="4552580"/>
            <a:ext cx="2122005" cy="1930778"/>
          </a:xfrm>
          <a:prstGeom prst="rect">
            <a:avLst/>
          </a:prstGeom>
        </p:spPr>
      </p:pic>
      <p:pic>
        <p:nvPicPr>
          <p:cNvPr id="10" name="Picture 9">
            <a:extLst>
              <a:ext uri="{FF2B5EF4-FFF2-40B4-BE49-F238E27FC236}">
                <a16:creationId xmlns:a16="http://schemas.microsoft.com/office/drawing/2014/main" id="{18713A19-3E83-C590-EC84-0CC1CEF81281}"/>
              </a:ext>
            </a:extLst>
          </p:cNvPr>
          <p:cNvPicPr>
            <a:picLocks noChangeAspect="1"/>
          </p:cNvPicPr>
          <p:nvPr/>
        </p:nvPicPr>
        <p:blipFill>
          <a:blip r:embed="rId4"/>
          <a:stretch>
            <a:fillRect/>
          </a:stretch>
        </p:blipFill>
        <p:spPr>
          <a:xfrm>
            <a:off x="6498131" y="4547352"/>
            <a:ext cx="2009993" cy="1936006"/>
          </a:xfrm>
          <a:prstGeom prst="rect">
            <a:avLst/>
          </a:prstGeom>
        </p:spPr>
      </p:pic>
      <p:sp>
        <p:nvSpPr>
          <p:cNvPr id="11" name="TextBox 10">
            <a:extLst>
              <a:ext uri="{FF2B5EF4-FFF2-40B4-BE49-F238E27FC236}">
                <a16:creationId xmlns:a16="http://schemas.microsoft.com/office/drawing/2014/main" id="{7F988B0E-0806-3B57-37AA-5317FDA6FEB5}"/>
              </a:ext>
            </a:extLst>
          </p:cNvPr>
          <p:cNvSpPr txBox="1"/>
          <p:nvPr/>
        </p:nvSpPr>
        <p:spPr>
          <a:xfrm>
            <a:off x="6498131" y="4204138"/>
            <a:ext cx="1915400" cy="369332"/>
          </a:xfrm>
          <a:prstGeom prst="rect">
            <a:avLst/>
          </a:prstGeom>
          <a:noFill/>
        </p:spPr>
        <p:txBody>
          <a:bodyPr wrap="square" rtlCol="0">
            <a:spAutoFit/>
          </a:bodyPr>
          <a:lstStyle/>
          <a:p>
            <a:r>
              <a:rPr lang="en-US"/>
              <a:t>Generated:</a:t>
            </a:r>
          </a:p>
        </p:txBody>
      </p:sp>
      <p:sp>
        <p:nvSpPr>
          <p:cNvPr id="12" name="TextBox 11">
            <a:extLst>
              <a:ext uri="{FF2B5EF4-FFF2-40B4-BE49-F238E27FC236}">
                <a16:creationId xmlns:a16="http://schemas.microsoft.com/office/drawing/2014/main" id="{BBB668CA-683F-792F-0D05-C6AEBCF3D455}"/>
              </a:ext>
            </a:extLst>
          </p:cNvPr>
          <p:cNvSpPr txBox="1"/>
          <p:nvPr/>
        </p:nvSpPr>
        <p:spPr>
          <a:xfrm>
            <a:off x="9124063" y="4204138"/>
            <a:ext cx="1915400" cy="369332"/>
          </a:xfrm>
          <a:prstGeom prst="rect">
            <a:avLst/>
          </a:prstGeom>
          <a:noFill/>
        </p:spPr>
        <p:txBody>
          <a:bodyPr wrap="square" rtlCol="0">
            <a:spAutoFit/>
          </a:bodyPr>
          <a:lstStyle/>
          <a:p>
            <a:r>
              <a:rPr lang="en-US"/>
              <a:t>Expected:</a:t>
            </a:r>
          </a:p>
        </p:txBody>
      </p:sp>
    </p:spTree>
    <p:extLst>
      <p:ext uri="{BB962C8B-B14F-4D97-AF65-F5344CB8AC3E}">
        <p14:creationId xmlns:p14="http://schemas.microsoft.com/office/powerpoint/2010/main" val="327722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CEDB2-0E3D-9573-719D-73317DA7EBB1}"/>
              </a:ext>
            </a:extLst>
          </p:cNvPr>
          <p:cNvSpPr>
            <a:spLocks noGrp="1"/>
          </p:cNvSpPr>
          <p:nvPr>
            <p:ph type="title"/>
          </p:nvPr>
        </p:nvSpPr>
        <p:spPr/>
        <p:txBody>
          <a:bodyPr/>
          <a:lstStyle/>
          <a:p>
            <a:r>
              <a:rPr lang="en-US"/>
              <a:t>Differences in Provided Code and Original</a:t>
            </a:r>
          </a:p>
        </p:txBody>
      </p:sp>
      <p:sp>
        <p:nvSpPr>
          <p:cNvPr id="12" name="Text Placeholder 11">
            <a:extLst>
              <a:ext uri="{FF2B5EF4-FFF2-40B4-BE49-F238E27FC236}">
                <a16:creationId xmlns:a16="http://schemas.microsoft.com/office/drawing/2014/main" id="{425C7F0B-FEB4-CD6E-D701-1395381F1082}"/>
              </a:ext>
            </a:extLst>
          </p:cNvPr>
          <p:cNvSpPr>
            <a:spLocks noGrp="1"/>
          </p:cNvSpPr>
          <p:nvPr>
            <p:ph type="body" idx="1"/>
          </p:nvPr>
        </p:nvSpPr>
        <p:spPr/>
        <p:txBody>
          <a:bodyPr/>
          <a:lstStyle/>
          <a:p>
            <a:r>
              <a:rPr lang="en-US"/>
              <a:t>Our ALU Controller Code</a:t>
            </a:r>
          </a:p>
        </p:txBody>
      </p:sp>
      <p:pic>
        <p:nvPicPr>
          <p:cNvPr id="8" name="Content Placeholder 7">
            <a:extLst>
              <a:ext uri="{FF2B5EF4-FFF2-40B4-BE49-F238E27FC236}">
                <a16:creationId xmlns:a16="http://schemas.microsoft.com/office/drawing/2014/main" id="{9D4EF754-B306-762D-6404-B04B53E716FB}"/>
              </a:ext>
            </a:extLst>
          </p:cNvPr>
          <p:cNvPicPr>
            <a:picLocks noGrp="1" noChangeAspect="1"/>
          </p:cNvPicPr>
          <p:nvPr>
            <p:ph sz="half" idx="2"/>
          </p:nvPr>
        </p:nvPicPr>
        <p:blipFill>
          <a:blip r:embed="rId2"/>
          <a:stretch>
            <a:fillRect/>
          </a:stretch>
        </p:blipFill>
        <p:spPr>
          <a:xfrm>
            <a:off x="1946796" y="2505075"/>
            <a:ext cx="2943771" cy="3684588"/>
          </a:xfrm>
        </p:spPr>
      </p:pic>
      <p:sp>
        <p:nvSpPr>
          <p:cNvPr id="13" name="Text Placeholder 12">
            <a:extLst>
              <a:ext uri="{FF2B5EF4-FFF2-40B4-BE49-F238E27FC236}">
                <a16:creationId xmlns:a16="http://schemas.microsoft.com/office/drawing/2014/main" id="{21598B83-3948-9634-5C3C-9C404FFAB6F0}"/>
              </a:ext>
            </a:extLst>
          </p:cNvPr>
          <p:cNvSpPr>
            <a:spLocks noGrp="1"/>
          </p:cNvSpPr>
          <p:nvPr>
            <p:ph type="body" sz="quarter" idx="3"/>
          </p:nvPr>
        </p:nvSpPr>
        <p:spPr/>
        <p:txBody>
          <a:bodyPr/>
          <a:lstStyle/>
          <a:p>
            <a:r>
              <a:rPr lang="en-US"/>
              <a:t>Provided ALU Controller Code</a:t>
            </a:r>
          </a:p>
        </p:txBody>
      </p:sp>
      <p:pic>
        <p:nvPicPr>
          <p:cNvPr id="6" name="Content Placeholder 5">
            <a:extLst>
              <a:ext uri="{FF2B5EF4-FFF2-40B4-BE49-F238E27FC236}">
                <a16:creationId xmlns:a16="http://schemas.microsoft.com/office/drawing/2014/main" id="{9A2B4E68-534A-3F34-33E2-A91450092E33}"/>
              </a:ext>
            </a:extLst>
          </p:cNvPr>
          <p:cNvPicPr>
            <a:picLocks noGrp="1" noChangeAspect="1"/>
          </p:cNvPicPr>
          <p:nvPr>
            <p:ph sz="quarter" idx="4"/>
          </p:nvPr>
        </p:nvPicPr>
        <p:blipFill>
          <a:blip r:embed="rId3"/>
          <a:stretch>
            <a:fillRect/>
          </a:stretch>
        </p:blipFill>
        <p:spPr>
          <a:xfrm>
            <a:off x="6522185" y="2505075"/>
            <a:ext cx="4483217" cy="3684588"/>
          </a:xfrm>
        </p:spPr>
      </p:pic>
      <p:cxnSp>
        <p:nvCxnSpPr>
          <p:cNvPr id="15" name="Straight Arrow Connector 14">
            <a:extLst>
              <a:ext uri="{FF2B5EF4-FFF2-40B4-BE49-F238E27FC236}">
                <a16:creationId xmlns:a16="http://schemas.microsoft.com/office/drawing/2014/main" id="{C3BA2BB9-210F-C311-382F-2F16E5A4DA3C}"/>
              </a:ext>
            </a:extLst>
          </p:cNvPr>
          <p:cNvCxnSpPr>
            <a:cxnSpLocks/>
          </p:cNvCxnSpPr>
          <p:nvPr/>
        </p:nvCxnSpPr>
        <p:spPr>
          <a:xfrm flipV="1">
            <a:off x="1813034" y="3147848"/>
            <a:ext cx="352097" cy="32469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4F10AF1A-1DD3-8E59-FF7B-57264B737FBF}"/>
              </a:ext>
            </a:extLst>
          </p:cNvPr>
          <p:cNvSpPr txBox="1"/>
          <p:nvPr/>
        </p:nvSpPr>
        <p:spPr>
          <a:xfrm>
            <a:off x="52551" y="3429000"/>
            <a:ext cx="1944414" cy="646331"/>
          </a:xfrm>
          <a:prstGeom prst="rect">
            <a:avLst/>
          </a:prstGeom>
          <a:noFill/>
        </p:spPr>
        <p:txBody>
          <a:bodyPr wrap="square" rtlCol="0">
            <a:spAutoFit/>
          </a:bodyPr>
          <a:lstStyle/>
          <a:p>
            <a:r>
              <a:rPr lang="en-US"/>
              <a:t>Too many states! Overcomplicated</a:t>
            </a:r>
          </a:p>
        </p:txBody>
      </p:sp>
    </p:spTree>
    <p:extLst>
      <p:ext uri="{BB962C8B-B14F-4D97-AF65-F5344CB8AC3E}">
        <p14:creationId xmlns:p14="http://schemas.microsoft.com/office/powerpoint/2010/main" val="19964078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560EF-B2B1-BADE-BA37-F106FC75A639}"/>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94CAF831-FFC3-88A3-E99F-323B5254D69C}"/>
              </a:ext>
            </a:extLst>
          </p:cNvPr>
          <p:cNvPicPr>
            <a:picLocks noGrp="1" noChangeAspect="1"/>
          </p:cNvPicPr>
          <p:nvPr>
            <p:ph sz="half" idx="2"/>
          </p:nvPr>
        </p:nvPicPr>
        <p:blipFill>
          <a:blip r:embed="rId2"/>
          <a:stretch>
            <a:fillRect/>
          </a:stretch>
        </p:blipFill>
        <p:spPr>
          <a:xfrm>
            <a:off x="1648669" y="2505075"/>
            <a:ext cx="3540025" cy="3684588"/>
          </a:xfrm>
        </p:spPr>
      </p:pic>
      <p:sp>
        <p:nvSpPr>
          <p:cNvPr id="2" name="Title 1">
            <a:extLst>
              <a:ext uri="{FF2B5EF4-FFF2-40B4-BE49-F238E27FC236}">
                <a16:creationId xmlns:a16="http://schemas.microsoft.com/office/drawing/2014/main" id="{F792744A-F772-FE70-9AD1-0860B65F1602}"/>
              </a:ext>
            </a:extLst>
          </p:cNvPr>
          <p:cNvSpPr>
            <a:spLocks noGrp="1"/>
          </p:cNvSpPr>
          <p:nvPr>
            <p:ph type="title"/>
          </p:nvPr>
        </p:nvSpPr>
        <p:spPr/>
        <p:txBody>
          <a:bodyPr/>
          <a:lstStyle/>
          <a:p>
            <a:r>
              <a:rPr lang="en-US"/>
              <a:t>Differences in Provided Code and Original</a:t>
            </a:r>
          </a:p>
        </p:txBody>
      </p:sp>
      <p:sp>
        <p:nvSpPr>
          <p:cNvPr id="12" name="Text Placeholder 11">
            <a:extLst>
              <a:ext uri="{FF2B5EF4-FFF2-40B4-BE49-F238E27FC236}">
                <a16:creationId xmlns:a16="http://schemas.microsoft.com/office/drawing/2014/main" id="{DA42DC80-6427-730E-2256-943169F4C618}"/>
              </a:ext>
            </a:extLst>
          </p:cNvPr>
          <p:cNvSpPr>
            <a:spLocks noGrp="1"/>
          </p:cNvSpPr>
          <p:nvPr>
            <p:ph type="body" idx="1"/>
          </p:nvPr>
        </p:nvSpPr>
        <p:spPr/>
        <p:txBody>
          <a:bodyPr/>
          <a:lstStyle/>
          <a:p>
            <a:r>
              <a:rPr lang="en-US"/>
              <a:t>Our ALU Controller Code</a:t>
            </a:r>
          </a:p>
        </p:txBody>
      </p:sp>
      <p:sp>
        <p:nvSpPr>
          <p:cNvPr id="13" name="Text Placeholder 12">
            <a:extLst>
              <a:ext uri="{FF2B5EF4-FFF2-40B4-BE49-F238E27FC236}">
                <a16:creationId xmlns:a16="http://schemas.microsoft.com/office/drawing/2014/main" id="{821A62B9-3050-54BE-DD43-D8EF4C8D4D9B}"/>
              </a:ext>
            </a:extLst>
          </p:cNvPr>
          <p:cNvSpPr>
            <a:spLocks noGrp="1"/>
          </p:cNvSpPr>
          <p:nvPr>
            <p:ph type="body" sz="quarter" idx="3"/>
          </p:nvPr>
        </p:nvSpPr>
        <p:spPr/>
        <p:txBody>
          <a:bodyPr/>
          <a:lstStyle/>
          <a:p>
            <a:r>
              <a:rPr lang="en-US"/>
              <a:t>Provided ALU Controller Code</a:t>
            </a:r>
          </a:p>
        </p:txBody>
      </p:sp>
      <p:pic>
        <p:nvPicPr>
          <p:cNvPr id="6" name="Content Placeholder 5">
            <a:extLst>
              <a:ext uri="{FF2B5EF4-FFF2-40B4-BE49-F238E27FC236}">
                <a16:creationId xmlns:a16="http://schemas.microsoft.com/office/drawing/2014/main" id="{18831A3B-C94A-6032-F418-656C55B3AFFE}"/>
              </a:ext>
            </a:extLst>
          </p:cNvPr>
          <p:cNvPicPr>
            <a:picLocks noGrp="1" noChangeAspect="1"/>
          </p:cNvPicPr>
          <p:nvPr>
            <p:ph sz="quarter" idx="4"/>
          </p:nvPr>
        </p:nvPicPr>
        <p:blipFill>
          <a:blip r:embed="rId3"/>
          <a:stretch>
            <a:fillRect/>
          </a:stretch>
        </p:blipFill>
        <p:spPr>
          <a:xfrm>
            <a:off x="6522185" y="2505075"/>
            <a:ext cx="4483217" cy="3684588"/>
          </a:xfrm>
        </p:spPr>
      </p:pic>
      <p:cxnSp>
        <p:nvCxnSpPr>
          <p:cNvPr id="15" name="Straight Arrow Connector 14">
            <a:extLst>
              <a:ext uri="{FF2B5EF4-FFF2-40B4-BE49-F238E27FC236}">
                <a16:creationId xmlns:a16="http://schemas.microsoft.com/office/drawing/2014/main" id="{47204C55-3AD1-CDCB-CDAD-78C07FD9CE84}"/>
              </a:ext>
            </a:extLst>
          </p:cNvPr>
          <p:cNvCxnSpPr>
            <a:cxnSpLocks/>
          </p:cNvCxnSpPr>
          <p:nvPr/>
        </p:nvCxnSpPr>
        <p:spPr>
          <a:xfrm flipV="1">
            <a:off x="1408386" y="5375276"/>
            <a:ext cx="520262" cy="71021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922EB4CB-4AE5-9B74-E26E-3F4ACAA6CA6C}"/>
              </a:ext>
            </a:extLst>
          </p:cNvPr>
          <p:cNvSpPr txBox="1"/>
          <p:nvPr/>
        </p:nvSpPr>
        <p:spPr>
          <a:xfrm>
            <a:off x="362606" y="6189663"/>
            <a:ext cx="3447394" cy="646331"/>
          </a:xfrm>
          <a:prstGeom prst="rect">
            <a:avLst/>
          </a:prstGeom>
          <a:noFill/>
        </p:spPr>
        <p:txBody>
          <a:bodyPr wrap="square" rtlCol="0">
            <a:spAutoFit/>
          </a:bodyPr>
          <a:lstStyle/>
          <a:p>
            <a:r>
              <a:rPr lang="en-US"/>
              <a:t>Incorrect activation of ALU data path.</a:t>
            </a:r>
          </a:p>
        </p:txBody>
      </p:sp>
      <p:sp>
        <p:nvSpPr>
          <p:cNvPr id="10" name="TextBox 9">
            <a:extLst>
              <a:ext uri="{FF2B5EF4-FFF2-40B4-BE49-F238E27FC236}">
                <a16:creationId xmlns:a16="http://schemas.microsoft.com/office/drawing/2014/main" id="{F813A606-9154-84ED-7F19-5AFEBD6DBF25}"/>
              </a:ext>
            </a:extLst>
          </p:cNvPr>
          <p:cNvSpPr txBox="1"/>
          <p:nvPr/>
        </p:nvSpPr>
        <p:spPr>
          <a:xfrm>
            <a:off x="1840733" y="1367522"/>
            <a:ext cx="8313683" cy="646331"/>
          </a:xfrm>
          <a:prstGeom prst="rect">
            <a:avLst/>
          </a:prstGeom>
          <a:noFill/>
        </p:spPr>
        <p:txBody>
          <a:bodyPr wrap="square" rtlCol="0">
            <a:spAutoFit/>
          </a:bodyPr>
          <a:lstStyle/>
          <a:p>
            <a:r>
              <a:rPr lang="en-US"/>
              <a:t>Many more differences in how data was handled, but the ALU was where our original code failed. Overall, the provided code runs faster and is less bloated.</a:t>
            </a:r>
          </a:p>
        </p:txBody>
      </p:sp>
    </p:spTree>
    <p:extLst>
      <p:ext uri="{BB962C8B-B14F-4D97-AF65-F5344CB8AC3E}">
        <p14:creationId xmlns:p14="http://schemas.microsoft.com/office/powerpoint/2010/main" val="14266926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225B6-38F1-8B4E-CAD3-4B812265B09F}"/>
              </a:ext>
            </a:extLst>
          </p:cNvPr>
          <p:cNvSpPr>
            <a:spLocks noGrp="1"/>
          </p:cNvSpPr>
          <p:nvPr>
            <p:ph type="title"/>
          </p:nvPr>
        </p:nvSpPr>
        <p:spPr/>
        <p:txBody>
          <a:bodyPr/>
          <a:lstStyle/>
          <a:p>
            <a:r>
              <a:rPr lang="en-US"/>
              <a:t>Constraints for synthesis</a:t>
            </a:r>
          </a:p>
        </p:txBody>
      </p:sp>
      <p:sp>
        <p:nvSpPr>
          <p:cNvPr id="3" name="Content Placeholder 2">
            <a:extLst>
              <a:ext uri="{FF2B5EF4-FFF2-40B4-BE49-F238E27FC236}">
                <a16:creationId xmlns:a16="http://schemas.microsoft.com/office/drawing/2014/main" id="{E020DDBB-5004-5046-50FA-FD6065408AB5}"/>
              </a:ext>
            </a:extLst>
          </p:cNvPr>
          <p:cNvSpPr>
            <a:spLocks noGrp="1"/>
          </p:cNvSpPr>
          <p:nvPr>
            <p:ph idx="1"/>
          </p:nvPr>
        </p:nvSpPr>
        <p:spPr/>
        <p:txBody>
          <a:bodyPr vert="horz" lIns="91440" tIns="45720" rIns="91440" bIns="45720" rtlCol="0" anchor="t">
            <a:normAutofit/>
          </a:bodyPr>
          <a:lstStyle/>
          <a:p>
            <a:r>
              <a:rPr lang="en-US"/>
              <a:t>Clock constraints</a:t>
            </a:r>
          </a:p>
          <a:p>
            <a:pPr lvl="1">
              <a:buFont typeface="Courier New" panose="020B0604020202020204" pitchFamily="34" charset="0"/>
              <a:buChar char="o"/>
            </a:pPr>
            <a:r>
              <a:rPr lang="en-US" sz="2000"/>
              <a:t>Clock uncertainty for both </a:t>
            </a:r>
            <a:r>
              <a:rPr lang="en-US" sz="2000" err="1"/>
              <a:t>Dclk</a:t>
            </a:r>
            <a:r>
              <a:rPr lang="en-US" sz="2000"/>
              <a:t> and </a:t>
            </a:r>
            <a:r>
              <a:rPr lang="en-US" sz="2000" err="1"/>
              <a:t>Sclk</a:t>
            </a:r>
            <a:r>
              <a:rPr lang="en-US" sz="2000"/>
              <a:t> is +/-100ps</a:t>
            </a:r>
            <a:endParaRPr lang="en-US"/>
          </a:p>
          <a:p>
            <a:pPr lvl="1">
              <a:buFont typeface="Courier New" panose="020B0604020202020204" pitchFamily="34" charset="0"/>
              <a:buChar char="o"/>
            </a:pPr>
            <a:r>
              <a:rPr lang="en-US" sz="2000" err="1"/>
              <a:t>Dclk</a:t>
            </a:r>
            <a:r>
              <a:rPr lang="en-US" sz="2000"/>
              <a:t> and </a:t>
            </a:r>
            <a:r>
              <a:rPr lang="en-US" sz="2000" err="1"/>
              <a:t>Sclk</a:t>
            </a:r>
            <a:r>
              <a:rPr lang="en-US" sz="2000"/>
              <a:t> period = 1302000.0ps and 3333.3ps respectively</a:t>
            </a:r>
            <a:endParaRPr lang="en-US"/>
          </a:p>
          <a:p>
            <a:r>
              <a:rPr lang="en-US"/>
              <a:t>Pin constraint</a:t>
            </a:r>
          </a:p>
          <a:p>
            <a:pPr lvl="1">
              <a:buFont typeface="Courier New" panose="020B0604020202020204" pitchFamily="34" charset="0"/>
              <a:buChar char="o"/>
            </a:pPr>
            <a:r>
              <a:rPr lang="en-US" sz="2000"/>
              <a:t>All loads set to 1pf</a:t>
            </a:r>
            <a:endParaRPr lang="en-US"/>
          </a:p>
          <a:p>
            <a:r>
              <a:rPr lang="en-US"/>
              <a:t>Floorplan constraint: this is important to make sure need instance don’t flattened or synthesize to induvial cells</a:t>
            </a:r>
          </a:p>
          <a:p>
            <a:pPr lvl="1">
              <a:buFont typeface="Courier New" panose="020B0604020202020204" pitchFamily="34" charset="0"/>
              <a:buChar char="o"/>
            </a:pPr>
            <a:r>
              <a:rPr lang="en-US" sz="2000"/>
              <a:t>All memories a plan as instance </a:t>
            </a:r>
            <a:endParaRPr lang="en-US"/>
          </a:p>
          <a:p>
            <a:pPr lvl="1">
              <a:buFont typeface="Courier New" panose="020B0604020202020204" pitchFamily="34" charset="0"/>
              <a:buChar char="o"/>
            </a:pPr>
            <a:r>
              <a:rPr lang="en-US" sz="2000"/>
              <a:t>The tool command instructions needs preserve all SRAMs </a:t>
            </a:r>
            <a:endParaRPr lang="en-US"/>
          </a:p>
          <a:p>
            <a:endParaRPr lang="en-US"/>
          </a:p>
          <a:p>
            <a:pPr marL="0" indent="0">
              <a:buNone/>
            </a:pPr>
            <a:endParaRPr lang="en-US"/>
          </a:p>
          <a:p>
            <a:endParaRPr lang="en-US"/>
          </a:p>
        </p:txBody>
      </p:sp>
    </p:spTree>
    <p:extLst>
      <p:ext uri="{BB962C8B-B14F-4D97-AF65-F5344CB8AC3E}">
        <p14:creationId xmlns:p14="http://schemas.microsoft.com/office/powerpoint/2010/main" val="3386841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380D0-61C1-8D31-5E11-8F0BCB5864E6}"/>
              </a:ext>
            </a:extLst>
          </p:cNvPr>
          <p:cNvSpPr>
            <a:spLocks noGrp="1"/>
          </p:cNvSpPr>
          <p:nvPr>
            <p:ph type="title"/>
          </p:nvPr>
        </p:nvSpPr>
        <p:spPr/>
        <p:txBody>
          <a:bodyPr/>
          <a:lstStyle/>
          <a:p>
            <a:r>
              <a:rPr lang="en-US"/>
              <a:t>Tool commands used for Synthesis</a:t>
            </a:r>
          </a:p>
        </p:txBody>
      </p:sp>
      <p:sp>
        <p:nvSpPr>
          <p:cNvPr id="3" name="Content Placeholder 2">
            <a:extLst>
              <a:ext uri="{FF2B5EF4-FFF2-40B4-BE49-F238E27FC236}">
                <a16:creationId xmlns:a16="http://schemas.microsoft.com/office/drawing/2014/main" id="{879EF3E2-D15F-54D9-A23E-81BBFBDC4869}"/>
              </a:ext>
            </a:extLst>
          </p:cNvPr>
          <p:cNvSpPr>
            <a:spLocks noGrp="1"/>
          </p:cNvSpPr>
          <p:nvPr>
            <p:ph sz="half" idx="1"/>
          </p:nvPr>
        </p:nvSpPr>
        <p:spPr/>
        <p:txBody>
          <a:bodyPr vert="horz" lIns="91440" tIns="45720" rIns="91440" bIns="45720" rtlCol="0" anchor="t">
            <a:normAutofit/>
          </a:bodyPr>
          <a:lstStyle/>
          <a:p>
            <a:pPr>
              <a:buNone/>
            </a:pPr>
            <a:r>
              <a:rPr lang="en-US" sz="1600" err="1"/>
              <a:t>set_db</a:t>
            </a:r>
            <a:r>
              <a:rPr lang="en-US" sz="1600"/>
              <a:t> [</a:t>
            </a:r>
            <a:r>
              <a:rPr lang="en-US" sz="1600" err="1"/>
              <a:t>get_designs</a:t>
            </a:r>
            <a:r>
              <a:rPr lang="en-US" sz="1600"/>
              <a:t> SRAM1RW128x12] .</a:t>
            </a:r>
            <a:r>
              <a:rPr lang="en-US" sz="1600" err="1"/>
              <a:t>dont_touch</a:t>
            </a:r>
            <a:r>
              <a:rPr lang="en-US" sz="1600"/>
              <a:t> true</a:t>
            </a:r>
            <a:endParaRPr lang="en-US"/>
          </a:p>
          <a:p>
            <a:pPr>
              <a:buNone/>
            </a:pPr>
            <a:r>
              <a:rPr lang="en-US" sz="1600" err="1"/>
              <a:t>set_db</a:t>
            </a:r>
            <a:r>
              <a:rPr lang="en-US" sz="1600"/>
              <a:t> [</a:t>
            </a:r>
            <a:r>
              <a:rPr lang="en-US" sz="1600" err="1"/>
              <a:t>get_designs</a:t>
            </a:r>
            <a:r>
              <a:rPr lang="en-US" sz="1600"/>
              <a:t> SRAM1RW128x12] .</a:t>
            </a:r>
            <a:r>
              <a:rPr lang="en-US" sz="1600" err="1"/>
              <a:t>is_blackbox</a:t>
            </a:r>
            <a:r>
              <a:rPr lang="en-US" sz="1600"/>
              <a:t> true</a:t>
            </a:r>
            <a:endParaRPr lang="en-US"/>
          </a:p>
          <a:p>
            <a:pPr>
              <a:buNone/>
            </a:pPr>
            <a:r>
              <a:rPr lang="en-US" sz="1600" err="1"/>
              <a:t>set_db</a:t>
            </a:r>
            <a:r>
              <a:rPr lang="en-US" sz="1600"/>
              <a:t> [</a:t>
            </a:r>
            <a:r>
              <a:rPr lang="en-US" sz="1600" err="1"/>
              <a:t>get_designs</a:t>
            </a:r>
            <a:r>
              <a:rPr lang="en-US" sz="1600"/>
              <a:t> SRAM1RW256x8] .</a:t>
            </a:r>
            <a:r>
              <a:rPr lang="en-US" sz="1600" err="1"/>
              <a:t>dont_touch</a:t>
            </a:r>
            <a:r>
              <a:rPr lang="en-US" sz="1600"/>
              <a:t> true</a:t>
            </a:r>
            <a:endParaRPr lang="en-US"/>
          </a:p>
          <a:p>
            <a:pPr>
              <a:buNone/>
            </a:pPr>
            <a:r>
              <a:rPr lang="en-US" sz="1600" err="1"/>
              <a:t>set_db</a:t>
            </a:r>
            <a:r>
              <a:rPr lang="en-US" sz="1600"/>
              <a:t> [</a:t>
            </a:r>
            <a:r>
              <a:rPr lang="en-US" sz="1600" err="1"/>
              <a:t>get_designs</a:t>
            </a:r>
            <a:r>
              <a:rPr lang="en-US" sz="1600"/>
              <a:t> SRAM1RW256x8] .</a:t>
            </a:r>
            <a:r>
              <a:rPr lang="en-US" sz="1600" err="1"/>
              <a:t>is_blackbox</a:t>
            </a:r>
            <a:r>
              <a:rPr lang="en-US" sz="1600"/>
              <a:t> true</a:t>
            </a:r>
            <a:endParaRPr lang="en-US"/>
          </a:p>
          <a:p>
            <a:pPr>
              <a:buNone/>
            </a:pPr>
            <a:r>
              <a:rPr lang="en-US" sz="1600" err="1"/>
              <a:t>set_db</a:t>
            </a:r>
            <a:r>
              <a:rPr lang="en-US" sz="1600"/>
              <a:t> [</a:t>
            </a:r>
            <a:r>
              <a:rPr lang="en-US" sz="1600" err="1"/>
              <a:t>get_designs</a:t>
            </a:r>
            <a:r>
              <a:rPr lang="en-US" sz="1600"/>
              <a:t> SRAM2RW16x8] .</a:t>
            </a:r>
            <a:r>
              <a:rPr lang="en-US" sz="1600" err="1"/>
              <a:t>dont_touch</a:t>
            </a:r>
            <a:r>
              <a:rPr lang="en-US" sz="1600"/>
              <a:t> true</a:t>
            </a:r>
            <a:endParaRPr lang="en-US"/>
          </a:p>
          <a:p>
            <a:pPr>
              <a:buNone/>
            </a:pPr>
            <a:r>
              <a:rPr lang="en-US" sz="1600" err="1"/>
              <a:t>set_db</a:t>
            </a:r>
            <a:r>
              <a:rPr lang="en-US" sz="1600"/>
              <a:t> [</a:t>
            </a:r>
            <a:r>
              <a:rPr lang="en-US" sz="1600" err="1"/>
              <a:t>get_designs</a:t>
            </a:r>
            <a:r>
              <a:rPr lang="en-US" sz="1600"/>
              <a:t> SRAM2RW16x8] .</a:t>
            </a:r>
            <a:r>
              <a:rPr lang="en-US" sz="1600" err="1"/>
              <a:t>is_blackbox</a:t>
            </a:r>
            <a:r>
              <a:rPr lang="en-US" sz="1600"/>
              <a:t> true</a:t>
            </a:r>
            <a:endParaRPr lang="en-US"/>
          </a:p>
          <a:p>
            <a:pPr>
              <a:buNone/>
            </a:pPr>
            <a:r>
              <a:rPr lang="en-US" sz="1600"/>
              <a:t># 6. Elaborate top design</a:t>
            </a:r>
            <a:endParaRPr lang="en-US"/>
          </a:p>
          <a:p>
            <a:pPr>
              <a:buNone/>
            </a:pPr>
            <a:r>
              <a:rPr lang="en-US" sz="1600" err="1"/>
              <a:t>set_db</a:t>
            </a:r>
            <a:r>
              <a:rPr lang="en-US" sz="1600"/>
              <a:t> [</a:t>
            </a:r>
            <a:r>
              <a:rPr lang="en-US" sz="1600" err="1"/>
              <a:t>get_designs</a:t>
            </a:r>
            <a:r>
              <a:rPr lang="en-US" sz="1600"/>
              <a:t> MSDAP] .</a:t>
            </a:r>
            <a:r>
              <a:rPr lang="en-US" sz="1600" err="1"/>
              <a:t>auto_ungroup</a:t>
            </a:r>
            <a:r>
              <a:rPr lang="en-US" sz="1600"/>
              <a:t> none</a:t>
            </a:r>
            <a:endParaRPr lang="en-US"/>
          </a:p>
          <a:p>
            <a:pPr>
              <a:buNone/>
            </a:pPr>
            <a:r>
              <a:rPr lang="en-US" sz="1600" err="1"/>
              <a:t>set_db</a:t>
            </a:r>
            <a:r>
              <a:rPr lang="en-US" sz="1600"/>
              <a:t> [</a:t>
            </a:r>
            <a:r>
              <a:rPr lang="en-US" sz="1600" err="1"/>
              <a:t>get_designs</a:t>
            </a:r>
            <a:r>
              <a:rPr lang="en-US" sz="1600"/>
              <a:t> R_MEM] .</a:t>
            </a:r>
            <a:r>
              <a:rPr lang="en-US" sz="1600" err="1"/>
              <a:t>auto_ungroup</a:t>
            </a:r>
            <a:r>
              <a:rPr lang="en-US" sz="1600"/>
              <a:t> none</a:t>
            </a:r>
            <a:endParaRPr lang="en-US"/>
          </a:p>
          <a:p>
            <a:pPr>
              <a:buNone/>
            </a:pPr>
            <a:r>
              <a:rPr lang="en-US" sz="1600" err="1"/>
              <a:t>set_db</a:t>
            </a:r>
            <a:r>
              <a:rPr lang="en-US" sz="1600"/>
              <a:t> [</a:t>
            </a:r>
            <a:r>
              <a:rPr lang="en-US" sz="1600" err="1"/>
              <a:t>get_designs</a:t>
            </a:r>
            <a:r>
              <a:rPr lang="en-US" sz="1600"/>
              <a:t> DATA_MEM] .</a:t>
            </a:r>
            <a:r>
              <a:rPr lang="en-US" sz="1600" err="1"/>
              <a:t>auto_ungroup</a:t>
            </a:r>
            <a:r>
              <a:rPr lang="en-US" sz="1600"/>
              <a:t> none</a:t>
            </a:r>
            <a:endParaRPr lang="en-US"/>
          </a:p>
          <a:p>
            <a:pPr>
              <a:buNone/>
            </a:pPr>
            <a:r>
              <a:rPr lang="en-US" sz="1600" err="1"/>
              <a:t>set_db</a:t>
            </a:r>
            <a:r>
              <a:rPr lang="en-US" sz="1600"/>
              <a:t> [</a:t>
            </a:r>
            <a:r>
              <a:rPr lang="en-US" sz="1600" err="1"/>
              <a:t>get_designs</a:t>
            </a:r>
            <a:r>
              <a:rPr lang="en-US" sz="1600"/>
              <a:t> CO_MEM] .</a:t>
            </a:r>
            <a:r>
              <a:rPr lang="en-US" sz="1600" err="1"/>
              <a:t>auto_ungroup</a:t>
            </a:r>
            <a:r>
              <a:rPr lang="en-US" sz="1600"/>
              <a:t> none</a:t>
            </a:r>
            <a:endParaRPr lang="en-US"/>
          </a:p>
          <a:p>
            <a:pPr marL="0" indent="0">
              <a:buNone/>
            </a:pPr>
            <a:endParaRPr lang="en-US"/>
          </a:p>
        </p:txBody>
      </p:sp>
      <p:sp>
        <p:nvSpPr>
          <p:cNvPr id="4" name="Content Placeholder 3">
            <a:extLst>
              <a:ext uri="{FF2B5EF4-FFF2-40B4-BE49-F238E27FC236}">
                <a16:creationId xmlns:a16="http://schemas.microsoft.com/office/drawing/2014/main" id="{AA044D08-231D-9C88-ED56-569A91B5FE33}"/>
              </a:ext>
            </a:extLst>
          </p:cNvPr>
          <p:cNvSpPr>
            <a:spLocks noGrp="1"/>
          </p:cNvSpPr>
          <p:nvPr>
            <p:ph sz="half" idx="2"/>
          </p:nvPr>
        </p:nvSpPr>
        <p:spPr/>
        <p:txBody>
          <a:bodyPr vert="horz" lIns="91440" tIns="45720" rIns="91440" bIns="45720" rtlCol="0" anchor="t">
            <a:normAutofit/>
          </a:bodyPr>
          <a:lstStyle/>
          <a:p>
            <a:r>
              <a:rPr lang="en-US" sz="2200"/>
              <a:t>The intension for the Floorplan is to place all memories as induvial components (use as given)</a:t>
            </a:r>
            <a:endParaRPr lang="en-US"/>
          </a:p>
          <a:p>
            <a:r>
              <a:rPr lang="en-US" sz="2200" err="1">
                <a:highlight>
                  <a:srgbClr val="FFFF00"/>
                </a:highlight>
              </a:rPr>
              <a:t>don’t_touch</a:t>
            </a:r>
            <a:r>
              <a:rPr lang="en-US" sz="2200"/>
              <a:t> and </a:t>
            </a:r>
            <a:r>
              <a:rPr lang="en-US" sz="2200" err="1">
                <a:highlight>
                  <a:srgbClr val="FFFF00"/>
                </a:highlight>
              </a:rPr>
              <a:t>is_blackbox</a:t>
            </a:r>
            <a:r>
              <a:rPr lang="en-US" sz="2200"/>
              <a:t> prevents the SRAMs from getting flattened or synthesize into individual gates</a:t>
            </a:r>
            <a:endParaRPr lang="en-US"/>
          </a:p>
          <a:p>
            <a:r>
              <a:rPr lang="en-US" sz="2200"/>
              <a:t>To preserve hierarchy the </a:t>
            </a:r>
            <a:r>
              <a:rPr lang="en-US" sz="2200" err="1">
                <a:highlight>
                  <a:srgbClr val="FFFF00"/>
                </a:highlight>
              </a:rPr>
              <a:t>auto_ungroup</a:t>
            </a:r>
            <a:r>
              <a:rPr lang="en-US" sz="2200">
                <a:highlight>
                  <a:srgbClr val="FFFF00"/>
                </a:highlight>
              </a:rPr>
              <a:t> </a:t>
            </a:r>
            <a:r>
              <a:rPr lang="en-US" sz="2200"/>
              <a:t>has been disabled for the R, Data, and Co modules </a:t>
            </a:r>
            <a:endParaRPr lang="en-US"/>
          </a:p>
          <a:p>
            <a:endParaRPr lang="en-US"/>
          </a:p>
        </p:txBody>
      </p:sp>
    </p:spTree>
    <p:extLst>
      <p:ext uri="{BB962C8B-B14F-4D97-AF65-F5344CB8AC3E}">
        <p14:creationId xmlns:p14="http://schemas.microsoft.com/office/powerpoint/2010/main" val="24014077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37734-4E6D-4222-BE82-5B55DCE948ED}"/>
              </a:ext>
            </a:extLst>
          </p:cNvPr>
          <p:cNvSpPr>
            <a:spLocks noGrp="1"/>
          </p:cNvSpPr>
          <p:nvPr>
            <p:ph type="title"/>
          </p:nvPr>
        </p:nvSpPr>
        <p:spPr/>
        <p:txBody>
          <a:bodyPr/>
          <a:lstStyle/>
          <a:p>
            <a:r>
              <a:rPr lang="en-US"/>
              <a:t>Preserve mem instances</a:t>
            </a:r>
          </a:p>
        </p:txBody>
      </p:sp>
      <p:sp>
        <p:nvSpPr>
          <p:cNvPr id="3" name="Content Placeholder 2">
            <a:extLst>
              <a:ext uri="{FF2B5EF4-FFF2-40B4-BE49-F238E27FC236}">
                <a16:creationId xmlns:a16="http://schemas.microsoft.com/office/drawing/2014/main" id="{B7210E91-75BB-CAB6-1D70-76E93DF05006}"/>
              </a:ext>
            </a:extLst>
          </p:cNvPr>
          <p:cNvSpPr>
            <a:spLocks noGrp="1"/>
          </p:cNvSpPr>
          <p:nvPr>
            <p:ph sz="half" idx="1"/>
          </p:nvPr>
        </p:nvSpPr>
        <p:spPr/>
        <p:txBody>
          <a:bodyPr vert="horz" lIns="91440" tIns="45720" rIns="91440" bIns="45720" rtlCol="0" anchor="t">
            <a:normAutofit fontScale="92500" lnSpcReduction="20000"/>
          </a:bodyPr>
          <a:lstStyle/>
          <a:p>
            <a:pPr>
              <a:buNone/>
            </a:pPr>
            <a:r>
              <a:rPr lang="en-US" sz="2000"/>
              <a:t># Auto-preserve only memory SRAM instances (not inner registers)</a:t>
            </a:r>
            <a:endParaRPr lang="en-US"/>
          </a:p>
          <a:p>
            <a:pPr>
              <a:buNone/>
            </a:pPr>
            <a:r>
              <a:rPr lang="en-US" sz="2000"/>
              <a:t>foreach cell [</a:t>
            </a:r>
            <a:r>
              <a:rPr lang="en-US" sz="2000" err="1"/>
              <a:t>concat</a:t>
            </a:r>
            <a:r>
              <a:rPr lang="en-US" sz="2000"/>
              <a:t> \</a:t>
            </a:r>
            <a:endParaRPr lang="en-US"/>
          </a:p>
          <a:p>
            <a:pPr>
              <a:buNone/>
            </a:pPr>
            <a:r>
              <a:rPr lang="en-US" sz="2000"/>
              <a:t>    [</a:t>
            </a:r>
            <a:r>
              <a:rPr lang="en-US" sz="2000" err="1"/>
              <a:t>get_cells</a:t>
            </a:r>
            <a:r>
              <a:rPr lang="en-US" sz="2000"/>
              <a:t> -hierarchical *mem_0_0] \</a:t>
            </a:r>
            <a:endParaRPr lang="en-US"/>
          </a:p>
          <a:p>
            <a:pPr>
              <a:buNone/>
            </a:pPr>
            <a:r>
              <a:rPr lang="en-US" sz="2000"/>
              <a:t>    [</a:t>
            </a:r>
            <a:r>
              <a:rPr lang="en-US" sz="2000" err="1"/>
              <a:t>get_cells</a:t>
            </a:r>
            <a:r>
              <a:rPr lang="en-US" sz="2000"/>
              <a:t> -hierarchical *mem_0_1] \</a:t>
            </a:r>
            <a:endParaRPr lang="en-US"/>
          </a:p>
          <a:p>
            <a:pPr>
              <a:buNone/>
            </a:pPr>
            <a:r>
              <a:rPr lang="en-US" sz="2000"/>
              <a:t>    [</a:t>
            </a:r>
            <a:r>
              <a:rPr lang="en-US" sz="2000" err="1"/>
              <a:t>get_cells</a:t>
            </a:r>
            <a:r>
              <a:rPr lang="en-US" sz="2000"/>
              <a:t> -hierarchical *mem_0_2] \</a:t>
            </a:r>
            <a:endParaRPr lang="en-US"/>
          </a:p>
          <a:p>
            <a:pPr>
              <a:buNone/>
            </a:pPr>
            <a:r>
              <a:rPr lang="en-US" sz="2000"/>
              <a:t>    [</a:t>
            </a:r>
            <a:r>
              <a:rPr lang="en-US" sz="2000" err="1"/>
              <a:t>get_cells</a:t>
            </a:r>
            <a:r>
              <a:rPr lang="en-US" sz="2000"/>
              <a:t> -hierarchical *mem_0_3] \</a:t>
            </a:r>
            <a:endParaRPr lang="en-US"/>
          </a:p>
          <a:p>
            <a:pPr>
              <a:buNone/>
            </a:pPr>
            <a:r>
              <a:rPr lang="en-US" sz="2000"/>
              <a:t>] {</a:t>
            </a:r>
            <a:endParaRPr lang="en-US"/>
          </a:p>
          <a:p>
            <a:pPr>
              <a:buNone/>
            </a:pPr>
            <a:r>
              <a:rPr lang="en-US" sz="2000"/>
              <a:t>    if {[</a:t>
            </a:r>
            <a:r>
              <a:rPr lang="en-US" sz="2000" err="1"/>
              <a:t>llength</a:t>
            </a:r>
            <a:r>
              <a:rPr lang="en-US" sz="2000"/>
              <a:t> [</a:t>
            </a:r>
            <a:r>
              <a:rPr lang="en-US" sz="2000" err="1"/>
              <a:t>get_cells</a:t>
            </a:r>
            <a:r>
              <a:rPr lang="en-US" sz="2000"/>
              <a:t> -quiet $cell]] &gt; 0} {</a:t>
            </a:r>
            <a:endParaRPr lang="en-US"/>
          </a:p>
          <a:p>
            <a:pPr>
              <a:buNone/>
            </a:pPr>
            <a:r>
              <a:rPr lang="en-US" sz="2000"/>
              <a:t>        </a:t>
            </a:r>
            <a:r>
              <a:rPr lang="en-US" sz="2000" err="1"/>
              <a:t>set_db</a:t>
            </a:r>
            <a:r>
              <a:rPr lang="en-US" sz="2000"/>
              <a:t> $cell .preserve </a:t>
            </a:r>
            <a:r>
              <a:rPr lang="en-US" sz="2000" err="1"/>
              <a:t>size_ok</a:t>
            </a:r>
            <a:endParaRPr lang="en-US" err="1"/>
          </a:p>
          <a:p>
            <a:pPr>
              <a:buNone/>
            </a:pPr>
            <a:r>
              <a:rPr lang="en-US" sz="2000"/>
              <a:t>        puts "Preserved: $cell"</a:t>
            </a:r>
            <a:endParaRPr lang="en-US"/>
          </a:p>
          <a:p>
            <a:pPr>
              <a:buNone/>
            </a:pPr>
            <a:r>
              <a:rPr lang="en-US" sz="2000"/>
              <a:t>    }</a:t>
            </a:r>
            <a:endParaRPr lang="en-US"/>
          </a:p>
          <a:p>
            <a:pPr>
              <a:buNone/>
            </a:pPr>
            <a:r>
              <a:rPr lang="en-US" sz="2000"/>
              <a:t>}</a:t>
            </a:r>
            <a:endParaRPr lang="en-US"/>
          </a:p>
          <a:p>
            <a:pPr marL="0" indent="0">
              <a:buNone/>
            </a:pPr>
            <a:endParaRPr lang="en-US"/>
          </a:p>
        </p:txBody>
      </p:sp>
      <p:sp>
        <p:nvSpPr>
          <p:cNvPr id="4" name="Content Placeholder 3">
            <a:extLst>
              <a:ext uri="{FF2B5EF4-FFF2-40B4-BE49-F238E27FC236}">
                <a16:creationId xmlns:a16="http://schemas.microsoft.com/office/drawing/2014/main" id="{6B4207AE-AF65-EE71-E802-A93132BCE3C9}"/>
              </a:ext>
            </a:extLst>
          </p:cNvPr>
          <p:cNvSpPr>
            <a:spLocks noGrp="1"/>
          </p:cNvSpPr>
          <p:nvPr>
            <p:ph sz="half" idx="2"/>
          </p:nvPr>
        </p:nvSpPr>
        <p:spPr/>
        <p:txBody>
          <a:bodyPr vert="horz" lIns="91440" tIns="45720" rIns="91440" bIns="45720" rtlCol="0" anchor="t">
            <a:normAutofit fontScale="92500" lnSpcReduction="20000"/>
          </a:bodyPr>
          <a:lstStyle/>
          <a:p>
            <a:r>
              <a:rPr lang="en-US" sz="2000"/>
              <a:t>The following are preserve as instances for easy placement.</a:t>
            </a:r>
            <a:endParaRPr lang="en-US"/>
          </a:p>
          <a:p>
            <a:pPr lvl="1">
              <a:buFont typeface="Courier New" panose="020B0604020202020204" pitchFamily="34" charset="0"/>
              <a:buChar char="o"/>
            </a:pPr>
            <a:r>
              <a:rPr lang="en-US" sz="1300"/>
              <a:t>Mem_0_0</a:t>
            </a:r>
            <a:endParaRPr lang="en-US"/>
          </a:p>
          <a:p>
            <a:pPr lvl="1">
              <a:buFont typeface="Courier New" panose="020B0604020202020204" pitchFamily="34" charset="0"/>
              <a:buChar char="o"/>
            </a:pPr>
            <a:r>
              <a:rPr lang="en-US" sz="1300"/>
              <a:t>Mem_0_2</a:t>
            </a:r>
            <a:endParaRPr lang="en-US"/>
          </a:p>
          <a:p>
            <a:pPr lvl="1">
              <a:buFont typeface="Courier New" panose="020B0604020202020204" pitchFamily="34" charset="0"/>
              <a:buChar char="o"/>
            </a:pPr>
            <a:r>
              <a:rPr lang="en-US" sz="1300"/>
              <a:t>Mem_0_2</a:t>
            </a:r>
            <a:endParaRPr lang="en-US"/>
          </a:p>
          <a:p>
            <a:pPr lvl="1">
              <a:buFont typeface="Courier New" panose="020B0604020202020204" pitchFamily="34" charset="0"/>
              <a:buChar char="o"/>
            </a:pPr>
            <a:r>
              <a:rPr lang="en-US" sz="1600"/>
              <a:t>Mem_0_3</a:t>
            </a:r>
            <a:endParaRPr lang="en-US"/>
          </a:p>
          <a:p>
            <a:endParaRPr lang="en-US"/>
          </a:p>
        </p:txBody>
      </p:sp>
    </p:spTree>
    <p:extLst>
      <p:ext uri="{BB962C8B-B14F-4D97-AF65-F5344CB8AC3E}">
        <p14:creationId xmlns:p14="http://schemas.microsoft.com/office/powerpoint/2010/main" val="1307050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56B69-5A08-2E18-67CC-9DDB9F1C68D3}"/>
              </a:ext>
            </a:extLst>
          </p:cNvPr>
          <p:cNvSpPr>
            <a:spLocks noGrp="1"/>
          </p:cNvSpPr>
          <p:nvPr>
            <p:ph type="title"/>
          </p:nvPr>
        </p:nvSpPr>
        <p:spPr>
          <a:xfrm>
            <a:off x="838200" y="-104601"/>
            <a:ext cx="10515600" cy="814084"/>
          </a:xfrm>
        </p:spPr>
        <p:txBody>
          <a:bodyPr/>
          <a:lstStyle/>
          <a:p>
            <a:r>
              <a:rPr lang="en-US"/>
              <a:t>Syn area report</a:t>
            </a:r>
          </a:p>
        </p:txBody>
      </p:sp>
      <p:pic>
        <p:nvPicPr>
          <p:cNvPr id="4" name="Content Placeholder 3" descr="A screenshot of a computer&#10;&#10;AI-generated content may be incorrect.">
            <a:extLst>
              <a:ext uri="{FF2B5EF4-FFF2-40B4-BE49-F238E27FC236}">
                <a16:creationId xmlns:a16="http://schemas.microsoft.com/office/drawing/2014/main" id="{46776975-9B90-E5A4-9440-4AD2CBD7489E}"/>
              </a:ext>
            </a:extLst>
          </p:cNvPr>
          <p:cNvPicPr>
            <a:picLocks noGrp="1" noChangeAspect="1"/>
          </p:cNvPicPr>
          <p:nvPr>
            <p:ph idx="1"/>
          </p:nvPr>
        </p:nvPicPr>
        <p:blipFill>
          <a:blip r:embed="rId2"/>
          <a:stretch>
            <a:fillRect/>
          </a:stretch>
        </p:blipFill>
        <p:spPr>
          <a:xfrm>
            <a:off x="839575" y="844419"/>
            <a:ext cx="7600548" cy="5530871"/>
          </a:xfrm>
        </p:spPr>
      </p:pic>
    </p:spTree>
    <p:extLst>
      <p:ext uri="{BB962C8B-B14F-4D97-AF65-F5344CB8AC3E}">
        <p14:creationId xmlns:p14="http://schemas.microsoft.com/office/powerpoint/2010/main" val="21129598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F8A85-9F79-6376-435A-E89CB11419E0}"/>
              </a:ext>
            </a:extLst>
          </p:cNvPr>
          <p:cNvSpPr>
            <a:spLocks noGrp="1"/>
          </p:cNvSpPr>
          <p:nvPr>
            <p:ph type="title"/>
          </p:nvPr>
        </p:nvSpPr>
        <p:spPr>
          <a:xfrm>
            <a:off x="838200" y="-271615"/>
            <a:ext cx="10515600" cy="991536"/>
          </a:xfrm>
        </p:spPr>
        <p:txBody>
          <a:bodyPr/>
          <a:lstStyle/>
          <a:p>
            <a:r>
              <a:rPr lang="en-US"/>
              <a:t>Syn Power report</a:t>
            </a:r>
          </a:p>
        </p:txBody>
      </p:sp>
      <p:pic>
        <p:nvPicPr>
          <p:cNvPr id="4" name="Content Placeholder 3" descr="A screenshot of a computer&#10;&#10;AI-generated content may be incorrect.">
            <a:extLst>
              <a:ext uri="{FF2B5EF4-FFF2-40B4-BE49-F238E27FC236}">
                <a16:creationId xmlns:a16="http://schemas.microsoft.com/office/drawing/2014/main" id="{9295DB63-FE48-10AC-C96C-9A99DD56AE6B}"/>
              </a:ext>
            </a:extLst>
          </p:cNvPr>
          <p:cNvPicPr>
            <a:picLocks noGrp="1" noChangeAspect="1"/>
          </p:cNvPicPr>
          <p:nvPr>
            <p:ph idx="1"/>
          </p:nvPr>
        </p:nvPicPr>
        <p:blipFill>
          <a:blip r:embed="rId2"/>
          <a:stretch>
            <a:fillRect/>
          </a:stretch>
        </p:blipFill>
        <p:spPr>
          <a:xfrm>
            <a:off x="966011" y="896611"/>
            <a:ext cx="6168141" cy="5562187"/>
          </a:xfrm>
        </p:spPr>
      </p:pic>
    </p:spTree>
    <p:extLst>
      <p:ext uri="{BB962C8B-B14F-4D97-AF65-F5344CB8AC3E}">
        <p14:creationId xmlns:p14="http://schemas.microsoft.com/office/powerpoint/2010/main" val="4190195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D470A-680D-CD7C-0D55-15EFC66071D0}"/>
              </a:ext>
            </a:extLst>
          </p:cNvPr>
          <p:cNvSpPr>
            <a:spLocks noGrp="1"/>
          </p:cNvSpPr>
          <p:nvPr>
            <p:ph type="title"/>
          </p:nvPr>
        </p:nvSpPr>
        <p:spPr/>
        <p:txBody>
          <a:bodyPr/>
          <a:lstStyle/>
          <a:p>
            <a:r>
              <a:rPr lang="en-US"/>
              <a:t>Syn Timing/ setup report</a:t>
            </a:r>
          </a:p>
        </p:txBody>
      </p:sp>
      <p:pic>
        <p:nvPicPr>
          <p:cNvPr id="5" name="Content Placeholder 4" descr="A screenshot of a computer program&#10;&#10;AI-generated content may be incorrect.">
            <a:extLst>
              <a:ext uri="{FF2B5EF4-FFF2-40B4-BE49-F238E27FC236}">
                <a16:creationId xmlns:a16="http://schemas.microsoft.com/office/drawing/2014/main" id="{BE572EED-ED7C-E195-AA2C-B7E2956487E7}"/>
              </a:ext>
            </a:extLst>
          </p:cNvPr>
          <p:cNvPicPr>
            <a:picLocks noGrp="1" noChangeAspect="1"/>
          </p:cNvPicPr>
          <p:nvPr>
            <p:ph sz="half" idx="1"/>
          </p:nvPr>
        </p:nvPicPr>
        <p:blipFill>
          <a:blip r:embed="rId2"/>
          <a:stretch>
            <a:fillRect/>
          </a:stretch>
        </p:blipFill>
        <p:spPr>
          <a:xfrm>
            <a:off x="838200" y="2147426"/>
            <a:ext cx="5181600" cy="3119356"/>
          </a:xfrm>
        </p:spPr>
      </p:pic>
      <p:pic>
        <p:nvPicPr>
          <p:cNvPr id="9" name="Content Placeholder 8" descr="A screenshot of a computer&#10;&#10;AI-generated content may be incorrect.">
            <a:extLst>
              <a:ext uri="{FF2B5EF4-FFF2-40B4-BE49-F238E27FC236}">
                <a16:creationId xmlns:a16="http://schemas.microsoft.com/office/drawing/2014/main" id="{3E7F1B7F-1E95-16DA-5296-335C228A83F5}"/>
              </a:ext>
            </a:extLst>
          </p:cNvPr>
          <p:cNvPicPr>
            <a:picLocks noGrp="1" noChangeAspect="1"/>
          </p:cNvPicPr>
          <p:nvPr>
            <p:ph sz="half" idx="2"/>
          </p:nvPr>
        </p:nvPicPr>
        <p:blipFill>
          <a:blip r:embed="rId3"/>
          <a:stretch>
            <a:fillRect/>
          </a:stretch>
        </p:blipFill>
        <p:spPr>
          <a:xfrm>
            <a:off x="6172200" y="2010457"/>
            <a:ext cx="5181600" cy="3750179"/>
          </a:xfrm>
        </p:spPr>
      </p:pic>
    </p:spTree>
    <p:extLst>
      <p:ext uri="{BB962C8B-B14F-4D97-AF65-F5344CB8AC3E}">
        <p14:creationId xmlns:p14="http://schemas.microsoft.com/office/powerpoint/2010/main" val="2615987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83CC25-84C6-EB00-A1D2-A354749A8B5D}"/>
              </a:ext>
            </a:extLst>
          </p:cNvPr>
          <p:cNvSpPr>
            <a:spLocks noGrp="1"/>
          </p:cNvSpPr>
          <p:nvPr>
            <p:ph type="title"/>
          </p:nvPr>
        </p:nvSpPr>
        <p:spPr>
          <a:xfrm>
            <a:off x="841248" y="256032"/>
            <a:ext cx="10506456" cy="1014984"/>
          </a:xfrm>
        </p:spPr>
        <p:txBody>
          <a:bodyPr anchor="b">
            <a:normAutofit/>
          </a:bodyPr>
          <a:lstStyle/>
          <a:p>
            <a:r>
              <a:rPr lang="en-US"/>
              <a:t>Syn PPA</a:t>
            </a:r>
          </a:p>
        </p:txBody>
      </p:sp>
      <p:sp>
        <p:nvSpPr>
          <p:cNvPr id="21" name="Rectangle 2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2" name="Rectangle 2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6" name="Content Placeholder 5">
            <a:extLst>
              <a:ext uri="{FF2B5EF4-FFF2-40B4-BE49-F238E27FC236}">
                <a16:creationId xmlns:a16="http://schemas.microsoft.com/office/drawing/2014/main" id="{3C0C251E-D2E1-3659-AE0F-43DB5F77CB71}"/>
              </a:ext>
            </a:extLst>
          </p:cNvPr>
          <p:cNvGraphicFramePr>
            <a:graphicFrameLocks noGrp="1"/>
          </p:cNvGraphicFramePr>
          <p:nvPr>
            <p:ph idx="1"/>
            <p:extLst>
              <p:ext uri="{D42A27DB-BD31-4B8C-83A1-F6EECF244321}">
                <p14:modId xmlns:p14="http://schemas.microsoft.com/office/powerpoint/2010/main" val="1714579993"/>
              </p:ext>
            </p:extLst>
          </p:nvPr>
        </p:nvGraphicFramePr>
        <p:xfrm>
          <a:off x="887260" y="2964493"/>
          <a:ext cx="9899184" cy="2279904"/>
        </p:xfrm>
        <a:graphic>
          <a:graphicData uri="http://schemas.openxmlformats.org/drawingml/2006/table">
            <a:tbl>
              <a:tblPr bandRow="1">
                <a:tableStyleId>{5C22544A-7EE6-4342-B048-85BDC9FD1C3A}</a:tableStyleId>
              </a:tblPr>
              <a:tblGrid>
                <a:gridCol w="4264475">
                  <a:extLst>
                    <a:ext uri="{9D8B030D-6E8A-4147-A177-3AD203B41FA5}">
                      <a16:colId xmlns:a16="http://schemas.microsoft.com/office/drawing/2014/main" val="2616957093"/>
                    </a:ext>
                  </a:extLst>
                </a:gridCol>
                <a:gridCol w="5634709">
                  <a:extLst>
                    <a:ext uri="{9D8B030D-6E8A-4147-A177-3AD203B41FA5}">
                      <a16:colId xmlns:a16="http://schemas.microsoft.com/office/drawing/2014/main" val="3567444122"/>
                    </a:ext>
                  </a:extLst>
                </a:gridCol>
              </a:tblGrid>
              <a:tr h="569976">
                <a:tc>
                  <a:txBody>
                    <a:bodyPr/>
                    <a:lstStyle/>
                    <a:p>
                      <a:pPr marL="0" algn="l" rtl="0" eaLnBrk="1" latinLnBrk="0" hangingPunct="1">
                        <a:buNone/>
                      </a:pPr>
                      <a:r>
                        <a:rPr lang="en-US" sz="2000" kern="1200">
                          <a:solidFill>
                            <a:srgbClr val="000000"/>
                          </a:solidFill>
                          <a:effectLst/>
                          <a:latin typeface="Aptos"/>
                        </a:rPr>
                        <a:t>PPA</a:t>
                      </a:r>
                      <a:endParaRPr lang="en-US" sz="2000">
                        <a:effectLst/>
                        <a:latin typeface="Aptos"/>
                      </a:endParaRPr>
                    </a:p>
                  </a:txBody>
                  <a:tcPr marL="0" marR="0" marT="0" marB="0" anchor="ctr">
                    <a:lnL>
                      <a:noFill/>
                    </a:lnL>
                    <a:lnR>
                      <a:noFill/>
                    </a:lnR>
                    <a:lnT>
                      <a:noFill/>
                    </a:lnT>
                    <a:lnB>
                      <a:noFill/>
                    </a:lnB>
                    <a:noFill/>
                  </a:tcPr>
                </a:tc>
                <a:tc>
                  <a:txBody>
                    <a:bodyPr/>
                    <a:lstStyle/>
                    <a:p>
                      <a:pPr marL="0" algn="l" rtl="0" eaLnBrk="1" latinLnBrk="0" hangingPunct="1">
                        <a:buNone/>
                      </a:pPr>
                      <a:r>
                        <a:rPr lang="en-US" sz="2000" kern="1200">
                          <a:solidFill>
                            <a:srgbClr val="000000"/>
                          </a:solidFill>
                          <a:effectLst/>
                          <a:latin typeface="Aptos"/>
                        </a:rPr>
                        <a:t>Value</a:t>
                      </a:r>
                      <a:endParaRPr lang="en-US" sz="2000">
                        <a:effectLst/>
                        <a:latin typeface="Aptos"/>
                      </a:endParaRPr>
                    </a:p>
                  </a:txBody>
                  <a:tcPr marL="0" marR="0" marT="0" marB="0" anchor="ctr">
                    <a:lnL>
                      <a:noFill/>
                    </a:lnL>
                    <a:lnR>
                      <a:noFill/>
                    </a:lnR>
                    <a:lnT>
                      <a:noFill/>
                    </a:lnT>
                    <a:lnB>
                      <a:noFill/>
                    </a:lnB>
                    <a:noFill/>
                  </a:tcPr>
                </a:tc>
                <a:extLst>
                  <a:ext uri="{0D108BD9-81ED-4DB2-BD59-A6C34878D82A}">
                    <a16:rowId xmlns:a16="http://schemas.microsoft.com/office/drawing/2014/main" val="160766301"/>
                  </a:ext>
                </a:extLst>
              </a:tr>
              <a:tr h="569976">
                <a:tc>
                  <a:txBody>
                    <a:bodyPr/>
                    <a:lstStyle/>
                    <a:p>
                      <a:pPr marL="0" algn="l" rtl="0" eaLnBrk="1" latinLnBrk="0" hangingPunct="1">
                        <a:buNone/>
                      </a:pPr>
                      <a:r>
                        <a:rPr lang="en-US" sz="2000" kern="1200">
                          <a:solidFill>
                            <a:srgbClr val="000000"/>
                          </a:solidFill>
                          <a:effectLst/>
                          <a:latin typeface="Aptos"/>
                        </a:rPr>
                        <a:t>Power</a:t>
                      </a:r>
                      <a:endParaRPr lang="en-US" sz="2000">
                        <a:effectLst/>
                        <a:latin typeface="Aptos"/>
                      </a:endParaRPr>
                    </a:p>
                  </a:txBody>
                  <a:tcPr marL="0" marR="0" marT="0" marB="0" anchor="ctr">
                    <a:lnL>
                      <a:noFill/>
                    </a:lnL>
                    <a:lnR>
                      <a:noFill/>
                    </a:lnR>
                    <a:lnT>
                      <a:noFill/>
                    </a:lnT>
                    <a:lnB>
                      <a:noFill/>
                    </a:lnB>
                    <a:noFill/>
                  </a:tcPr>
                </a:tc>
                <a:tc>
                  <a:txBody>
                    <a:bodyPr/>
                    <a:lstStyle/>
                    <a:p>
                      <a:pPr marL="0" algn="l" rtl="0" eaLnBrk="1" latinLnBrk="0" hangingPunct="1">
                        <a:buNone/>
                      </a:pPr>
                      <a:r>
                        <a:rPr lang="en-US" sz="2000" kern="1200">
                          <a:solidFill>
                            <a:srgbClr val="000000"/>
                          </a:solidFill>
                          <a:effectLst/>
                          <a:latin typeface="Aptos"/>
                        </a:rPr>
                        <a:t>5.488410319 </a:t>
                      </a:r>
                      <a:r>
                        <a:rPr lang="en-US" sz="2000" kern="1200" err="1">
                          <a:solidFill>
                            <a:srgbClr val="000000"/>
                          </a:solidFill>
                          <a:effectLst/>
                          <a:latin typeface="Aptos"/>
                        </a:rPr>
                        <a:t>mW</a:t>
                      </a:r>
                      <a:endParaRPr lang="en-US" sz="2000">
                        <a:effectLst/>
                        <a:latin typeface="Aptos"/>
                      </a:endParaRPr>
                    </a:p>
                  </a:txBody>
                  <a:tcPr marL="0" marR="0" marT="0" marB="0" anchor="ctr">
                    <a:lnL>
                      <a:noFill/>
                    </a:lnL>
                    <a:lnR>
                      <a:noFill/>
                    </a:lnR>
                    <a:lnT>
                      <a:noFill/>
                    </a:lnT>
                    <a:lnB>
                      <a:noFill/>
                    </a:lnB>
                    <a:noFill/>
                  </a:tcPr>
                </a:tc>
                <a:extLst>
                  <a:ext uri="{0D108BD9-81ED-4DB2-BD59-A6C34878D82A}">
                    <a16:rowId xmlns:a16="http://schemas.microsoft.com/office/drawing/2014/main" val="2674303130"/>
                  </a:ext>
                </a:extLst>
              </a:tr>
              <a:tr h="569976">
                <a:tc>
                  <a:txBody>
                    <a:bodyPr/>
                    <a:lstStyle/>
                    <a:p>
                      <a:pPr marL="0" algn="l" rtl="0" eaLnBrk="1" latinLnBrk="0" hangingPunct="1">
                        <a:buNone/>
                      </a:pPr>
                      <a:r>
                        <a:rPr lang="en-US" sz="2000" kern="1200">
                          <a:solidFill>
                            <a:srgbClr val="000000"/>
                          </a:solidFill>
                          <a:effectLst/>
                          <a:latin typeface="Aptos"/>
                        </a:rPr>
                        <a:t>Performance</a:t>
                      </a:r>
                      <a:endParaRPr lang="en-US" sz="2000">
                        <a:effectLst/>
                        <a:latin typeface="Aptos"/>
                      </a:endParaRPr>
                    </a:p>
                  </a:txBody>
                  <a:tcPr marL="0" marR="0" marT="0" marB="0" anchor="ctr">
                    <a:lnL>
                      <a:noFill/>
                    </a:lnL>
                    <a:lnR>
                      <a:noFill/>
                    </a:lnR>
                    <a:lnT>
                      <a:noFill/>
                    </a:lnT>
                    <a:lnB>
                      <a:noFill/>
                    </a:lnB>
                    <a:noFill/>
                  </a:tcPr>
                </a:tc>
                <a:tc>
                  <a:txBody>
                    <a:bodyPr/>
                    <a:lstStyle/>
                    <a:p>
                      <a:pPr marL="0" algn="l" rtl="0" eaLnBrk="1" latinLnBrk="0" hangingPunct="1">
                        <a:buNone/>
                      </a:pPr>
                      <a:r>
                        <a:rPr lang="en-US" sz="2000" kern="1200">
                          <a:solidFill>
                            <a:srgbClr val="000000"/>
                          </a:solidFill>
                          <a:effectLst/>
                          <a:latin typeface="Aptos"/>
                        </a:rPr>
                        <a:t>33333 </a:t>
                      </a:r>
                      <a:r>
                        <a:rPr lang="en-US" sz="2000" kern="1200" err="1">
                          <a:solidFill>
                            <a:srgbClr val="000000"/>
                          </a:solidFill>
                          <a:effectLst/>
                          <a:latin typeface="Aptos"/>
                        </a:rPr>
                        <a:t>ps</a:t>
                      </a:r>
                      <a:r>
                        <a:rPr lang="en-US" sz="2000" kern="1200">
                          <a:solidFill>
                            <a:srgbClr val="000000"/>
                          </a:solidFill>
                          <a:effectLst/>
                          <a:latin typeface="Aptos"/>
                        </a:rPr>
                        <a:t> = 30 MHz</a:t>
                      </a:r>
                      <a:endParaRPr lang="en-US" sz="2000">
                        <a:effectLst/>
                        <a:latin typeface="Aptos"/>
                      </a:endParaRPr>
                    </a:p>
                  </a:txBody>
                  <a:tcPr marL="0" marR="0" marT="0" marB="0" anchor="ctr">
                    <a:lnL>
                      <a:noFill/>
                    </a:lnL>
                    <a:lnR>
                      <a:noFill/>
                    </a:lnR>
                    <a:lnT>
                      <a:noFill/>
                    </a:lnT>
                    <a:lnB>
                      <a:noFill/>
                    </a:lnB>
                    <a:noFill/>
                  </a:tcPr>
                </a:tc>
                <a:extLst>
                  <a:ext uri="{0D108BD9-81ED-4DB2-BD59-A6C34878D82A}">
                    <a16:rowId xmlns:a16="http://schemas.microsoft.com/office/drawing/2014/main" val="2852308024"/>
                  </a:ext>
                </a:extLst>
              </a:tr>
              <a:tr h="569976">
                <a:tc>
                  <a:txBody>
                    <a:bodyPr/>
                    <a:lstStyle/>
                    <a:p>
                      <a:pPr marL="0" algn="l" rtl="0" eaLnBrk="1" latinLnBrk="0" hangingPunct="1">
                        <a:buNone/>
                      </a:pPr>
                      <a:r>
                        <a:rPr lang="en-US" sz="2000" kern="1200">
                          <a:solidFill>
                            <a:srgbClr val="000000"/>
                          </a:solidFill>
                          <a:effectLst/>
                          <a:latin typeface="Aptos"/>
                        </a:rPr>
                        <a:t>Area</a:t>
                      </a:r>
                      <a:endParaRPr lang="en-US" sz="2000">
                        <a:effectLst/>
                        <a:latin typeface="Aptos"/>
                      </a:endParaRPr>
                    </a:p>
                  </a:txBody>
                  <a:tcPr marL="0" marR="0" marT="0" marB="0" anchor="ctr">
                    <a:lnL>
                      <a:noFill/>
                    </a:lnL>
                    <a:lnR>
                      <a:noFill/>
                    </a:lnR>
                    <a:lnT>
                      <a:noFill/>
                    </a:lnT>
                    <a:lnB>
                      <a:noFill/>
                    </a:lnB>
                    <a:noFill/>
                  </a:tcPr>
                </a:tc>
                <a:tc>
                  <a:txBody>
                    <a:bodyPr/>
                    <a:lstStyle/>
                    <a:p>
                      <a:pPr marL="0" algn="l" rtl="0" eaLnBrk="1" latinLnBrk="0" hangingPunct="1">
                        <a:buNone/>
                      </a:pPr>
                      <a:r>
                        <a:rPr lang="en-US" sz="2000" kern="1200">
                          <a:solidFill>
                            <a:srgbClr val="000000"/>
                          </a:solidFill>
                          <a:effectLst/>
                          <a:latin typeface="Aptos"/>
                        </a:rPr>
                        <a:t>564864 µm²</a:t>
                      </a:r>
                      <a:endParaRPr lang="en-US" sz="2000">
                        <a:effectLst/>
                        <a:latin typeface="Aptos"/>
                      </a:endParaRPr>
                    </a:p>
                  </a:txBody>
                  <a:tcPr marL="0" marR="0" marT="0" marB="0" anchor="ctr">
                    <a:lnL>
                      <a:noFill/>
                    </a:lnL>
                    <a:lnR>
                      <a:noFill/>
                    </a:lnR>
                    <a:lnT>
                      <a:noFill/>
                    </a:lnT>
                    <a:lnB>
                      <a:noFill/>
                    </a:lnB>
                    <a:noFill/>
                  </a:tcPr>
                </a:tc>
                <a:extLst>
                  <a:ext uri="{0D108BD9-81ED-4DB2-BD59-A6C34878D82A}">
                    <a16:rowId xmlns:a16="http://schemas.microsoft.com/office/drawing/2014/main" val="4066571780"/>
                  </a:ext>
                </a:extLst>
              </a:tr>
            </a:tbl>
          </a:graphicData>
        </a:graphic>
      </p:graphicFrame>
    </p:spTree>
    <p:extLst>
      <p:ext uri="{BB962C8B-B14F-4D97-AF65-F5344CB8AC3E}">
        <p14:creationId xmlns:p14="http://schemas.microsoft.com/office/powerpoint/2010/main" val="611233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CB237-0C19-B172-ECD6-96044898D9B7}"/>
              </a:ext>
            </a:extLst>
          </p:cNvPr>
          <p:cNvSpPr>
            <a:spLocks noGrp="1"/>
          </p:cNvSpPr>
          <p:nvPr>
            <p:ph type="title"/>
          </p:nvPr>
        </p:nvSpPr>
        <p:spPr/>
        <p:txBody>
          <a:bodyPr/>
          <a:lstStyle/>
          <a:p>
            <a:r>
              <a:rPr lang="en-US"/>
              <a:t>Place and Route Process Flow</a:t>
            </a:r>
          </a:p>
        </p:txBody>
      </p:sp>
      <p:sp>
        <p:nvSpPr>
          <p:cNvPr id="3" name="Content Placeholder 2">
            <a:extLst>
              <a:ext uri="{FF2B5EF4-FFF2-40B4-BE49-F238E27FC236}">
                <a16:creationId xmlns:a16="http://schemas.microsoft.com/office/drawing/2014/main" id="{5189739C-EBCA-79FB-363D-2C9FDF970C37}"/>
              </a:ext>
            </a:extLst>
          </p:cNvPr>
          <p:cNvSpPr>
            <a:spLocks noGrp="1"/>
          </p:cNvSpPr>
          <p:nvPr>
            <p:ph idx="1"/>
          </p:nvPr>
        </p:nvSpPr>
        <p:spPr/>
        <p:txBody>
          <a:bodyPr vert="horz" lIns="91440" tIns="45720" rIns="91440" bIns="45720" rtlCol="0" anchor="t">
            <a:normAutofit/>
          </a:bodyPr>
          <a:lstStyle/>
          <a:p>
            <a:r>
              <a:rPr lang="en-US"/>
              <a:t>Setup Environment</a:t>
            </a:r>
          </a:p>
          <a:p>
            <a:pPr lvl="1">
              <a:buFont typeface="Courier New" panose="020B0604020202020204" pitchFamily="34" charset="0"/>
              <a:buChar char="o"/>
            </a:pPr>
            <a:r>
              <a:rPr lang="en-US"/>
              <a:t>Set Process node for the circuit</a:t>
            </a:r>
          </a:p>
          <a:p>
            <a:pPr lvl="1">
              <a:buFont typeface="Courier New" panose="020B0604020202020204" pitchFamily="34" charset="0"/>
              <a:buChar char="o"/>
            </a:pPr>
            <a:r>
              <a:rPr lang="en-US"/>
              <a:t>Set timing constraints</a:t>
            </a:r>
          </a:p>
          <a:p>
            <a:pPr lvl="1">
              <a:buFont typeface="Courier New" panose="020B0604020202020204" pitchFamily="34" charset="0"/>
              <a:buChar char="o"/>
            </a:pPr>
            <a:r>
              <a:rPr lang="en-US"/>
              <a:t>Define the timing scale </a:t>
            </a:r>
          </a:p>
          <a:p>
            <a:pPr lvl="1">
              <a:buFont typeface="Courier New" panose="020B0604020202020204" pitchFamily="34" charset="0"/>
              <a:buChar char="o"/>
            </a:pPr>
            <a:r>
              <a:rPr lang="en-US"/>
              <a:t>Include lib exchange file for all cells in the netlist</a:t>
            </a:r>
          </a:p>
          <a:p>
            <a:pPr lvl="1">
              <a:buFont typeface="Courier New" panose="020B0604020202020204" pitchFamily="34" charset="0"/>
              <a:buChar char="o"/>
            </a:pPr>
            <a:r>
              <a:rPr lang="en-US"/>
              <a:t>Define all corners to set chip behavior under different conditions</a:t>
            </a:r>
          </a:p>
          <a:p>
            <a:r>
              <a:rPr lang="en-US"/>
              <a:t>Read Design netlist and define the top module in the netlist</a:t>
            </a:r>
          </a:p>
          <a:p>
            <a:r>
              <a:rPr lang="en-US"/>
              <a:t>Define your Power parameters (VDD and VSS)</a:t>
            </a:r>
          </a:p>
          <a:p>
            <a:r>
              <a:rPr lang="en-US"/>
              <a:t>Exclude cells that may cause issues</a:t>
            </a:r>
          </a:p>
          <a:p>
            <a:endParaRPr lang="en-US"/>
          </a:p>
        </p:txBody>
      </p:sp>
    </p:spTree>
    <p:extLst>
      <p:ext uri="{BB962C8B-B14F-4D97-AF65-F5344CB8AC3E}">
        <p14:creationId xmlns:p14="http://schemas.microsoft.com/office/powerpoint/2010/main" val="9202407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9178D-9E6D-8184-2D44-F7CCDAD77F9B}"/>
              </a:ext>
            </a:extLst>
          </p:cNvPr>
          <p:cNvSpPr>
            <a:spLocks noGrp="1"/>
          </p:cNvSpPr>
          <p:nvPr>
            <p:ph type="title"/>
          </p:nvPr>
        </p:nvSpPr>
        <p:spPr/>
        <p:txBody>
          <a:bodyPr/>
          <a:lstStyle/>
          <a:p>
            <a:r>
              <a:rPr lang="en-US" err="1"/>
              <a:t>PnR</a:t>
            </a:r>
            <a:r>
              <a:rPr lang="en-US"/>
              <a:t> Process Flow  continues</a:t>
            </a:r>
          </a:p>
        </p:txBody>
      </p:sp>
      <p:sp>
        <p:nvSpPr>
          <p:cNvPr id="4" name="Content Placeholder 3">
            <a:extLst>
              <a:ext uri="{FF2B5EF4-FFF2-40B4-BE49-F238E27FC236}">
                <a16:creationId xmlns:a16="http://schemas.microsoft.com/office/drawing/2014/main" id="{B0C2DF75-A15B-E02C-7167-03CCDE4ACCDF}"/>
              </a:ext>
            </a:extLst>
          </p:cNvPr>
          <p:cNvSpPr>
            <a:spLocks noGrp="1"/>
          </p:cNvSpPr>
          <p:nvPr>
            <p:ph sz="half" idx="2"/>
          </p:nvPr>
        </p:nvSpPr>
        <p:spPr/>
        <p:txBody>
          <a:bodyPr vert="horz" lIns="91440" tIns="45720" rIns="91440" bIns="45720" rtlCol="0" anchor="t">
            <a:normAutofit/>
          </a:bodyPr>
          <a:lstStyle/>
          <a:p>
            <a:r>
              <a:rPr lang="en-US"/>
              <a:t>Source floorplan</a:t>
            </a:r>
          </a:p>
          <a:p>
            <a:pPr lvl="1">
              <a:buFont typeface="Courier New,monospace" panose="020B0604020202020204" pitchFamily="34" charset="0"/>
              <a:buChar char="o"/>
            </a:pPr>
            <a:r>
              <a:rPr lang="en-US"/>
              <a:t>Make overall chip area is </a:t>
            </a:r>
            <a:r>
              <a:rPr lang="en-US" err="1"/>
              <a:t>largeenough</a:t>
            </a:r>
            <a:r>
              <a:rPr lang="en-US"/>
              <a:t> to fit all instance</a:t>
            </a:r>
          </a:p>
          <a:p>
            <a:endParaRPr lang="en-US"/>
          </a:p>
          <a:p>
            <a:pPr marL="0" indent="0">
              <a:buNone/>
            </a:pPr>
            <a:endParaRPr lang="en-US"/>
          </a:p>
        </p:txBody>
      </p:sp>
      <p:pic>
        <p:nvPicPr>
          <p:cNvPr id="8" name="Content Placeholder 7" descr="A computer screen shot of a computer&#10;&#10;AI-generated content may be incorrect.">
            <a:extLst>
              <a:ext uri="{FF2B5EF4-FFF2-40B4-BE49-F238E27FC236}">
                <a16:creationId xmlns:a16="http://schemas.microsoft.com/office/drawing/2014/main" id="{AF79FE2C-B4A2-F704-4FBE-AACBB598F2CF}"/>
              </a:ext>
            </a:extLst>
          </p:cNvPr>
          <p:cNvPicPr>
            <a:picLocks noGrp="1" noChangeAspect="1"/>
          </p:cNvPicPr>
          <p:nvPr>
            <p:ph sz="half" idx="1"/>
          </p:nvPr>
        </p:nvPicPr>
        <p:blipFill>
          <a:blip r:embed="rId2"/>
          <a:stretch>
            <a:fillRect/>
          </a:stretch>
        </p:blipFill>
        <p:spPr>
          <a:xfrm>
            <a:off x="838200" y="2048380"/>
            <a:ext cx="5181600" cy="3905827"/>
          </a:xfrm>
        </p:spPr>
      </p:pic>
    </p:spTree>
    <p:extLst>
      <p:ext uri="{BB962C8B-B14F-4D97-AF65-F5344CB8AC3E}">
        <p14:creationId xmlns:p14="http://schemas.microsoft.com/office/powerpoint/2010/main" val="27392290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1649C-7FE2-A268-EC01-57319A8FD10D}"/>
              </a:ext>
            </a:extLst>
          </p:cNvPr>
          <p:cNvSpPr>
            <a:spLocks noGrp="1"/>
          </p:cNvSpPr>
          <p:nvPr>
            <p:ph type="title"/>
          </p:nvPr>
        </p:nvSpPr>
        <p:spPr/>
        <p:txBody>
          <a:bodyPr/>
          <a:lstStyle/>
          <a:p>
            <a:r>
              <a:rPr lang="en-US"/>
              <a:t>Add physical constraints </a:t>
            </a:r>
          </a:p>
        </p:txBody>
      </p:sp>
      <p:sp>
        <p:nvSpPr>
          <p:cNvPr id="3" name="Content Placeholder 2">
            <a:extLst>
              <a:ext uri="{FF2B5EF4-FFF2-40B4-BE49-F238E27FC236}">
                <a16:creationId xmlns:a16="http://schemas.microsoft.com/office/drawing/2014/main" id="{D0CF4147-A7BE-7F4B-4D4C-9FEDBC6C6E33}"/>
              </a:ext>
            </a:extLst>
          </p:cNvPr>
          <p:cNvSpPr>
            <a:spLocks noGrp="1"/>
          </p:cNvSpPr>
          <p:nvPr>
            <p:ph idx="1"/>
          </p:nvPr>
        </p:nvSpPr>
        <p:spPr/>
        <p:txBody>
          <a:bodyPr vert="horz" lIns="91440" tIns="45720" rIns="91440" bIns="45720" rtlCol="0" anchor="t">
            <a:normAutofit/>
          </a:bodyPr>
          <a:lstStyle/>
          <a:p>
            <a:r>
              <a:rPr lang="en-US"/>
              <a:t>Define physical </a:t>
            </a:r>
            <a:r>
              <a:rPr lang="en-US" err="1"/>
              <a:t>contraint</a:t>
            </a:r>
            <a:r>
              <a:rPr lang="en-US"/>
              <a:t> before placing Power rails</a:t>
            </a:r>
          </a:p>
          <a:p>
            <a:pPr lvl="1">
              <a:buFont typeface="Courier New,monospace" panose="020B0604020202020204" pitchFamily="34" charset="0"/>
              <a:buChar char="o"/>
            </a:pPr>
            <a:r>
              <a:rPr lang="en-US"/>
              <a:t>Define pith and offset rules</a:t>
            </a:r>
          </a:p>
          <a:p>
            <a:pPr lvl="1">
              <a:buFont typeface="Courier New,monospace" panose="020B0604020202020204" pitchFamily="34" charset="0"/>
              <a:buChar char="o"/>
            </a:pPr>
            <a:r>
              <a:rPr lang="en-US"/>
              <a:t>Add Via Rules </a:t>
            </a:r>
          </a:p>
          <a:p>
            <a:pPr lvl="1">
              <a:buFont typeface="Courier New,monospace" panose="020B0604020202020204" pitchFamily="34" charset="0"/>
              <a:buChar char="o"/>
            </a:pPr>
            <a:r>
              <a:rPr lang="en-US"/>
              <a:t>Define if via on IO pads are allowed</a:t>
            </a:r>
          </a:p>
          <a:p>
            <a:pPr lvl="1">
              <a:buFont typeface="Courier New,monospace" panose="020B0604020202020204" pitchFamily="34" charset="0"/>
              <a:buChar char="o"/>
            </a:pPr>
            <a:r>
              <a:rPr lang="en-US"/>
              <a:t>Add blockages or keepers to all corners of the chip</a:t>
            </a:r>
          </a:p>
          <a:p>
            <a:pPr marL="457200" lvl="1" indent="0">
              <a:buNone/>
            </a:pPr>
            <a:endParaRPr lang="en-US"/>
          </a:p>
        </p:txBody>
      </p:sp>
    </p:spTree>
    <p:extLst>
      <p:ext uri="{BB962C8B-B14F-4D97-AF65-F5344CB8AC3E}">
        <p14:creationId xmlns:p14="http://schemas.microsoft.com/office/powerpoint/2010/main" val="4180142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733C5-9375-6ECA-E1F1-448A45F23DB0}"/>
              </a:ext>
            </a:extLst>
          </p:cNvPr>
          <p:cNvSpPr>
            <a:spLocks noGrp="1"/>
          </p:cNvSpPr>
          <p:nvPr>
            <p:ph type="title"/>
          </p:nvPr>
        </p:nvSpPr>
        <p:spPr/>
        <p:txBody>
          <a:bodyPr/>
          <a:lstStyle/>
          <a:p>
            <a:r>
              <a:rPr lang="en-US"/>
              <a:t>Placement</a:t>
            </a:r>
          </a:p>
        </p:txBody>
      </p:sp>
      <p:sp>
        <p:nvSpPr>
          <p:cNvPr id="5" name="Content Placeholder 4">
            <a:extLst>
              <a:ext uri="{FF2B5EF4-FFF2-40B4-BE49-F238E27FC236}">
                <a16:creationId xmlns:a16="http://schemas.microsoft.com/office/drawing/2014/main" id="{2C28BE7A-E0C6-2687-D703-174B30BC0B6D}"/>
              </a:ext>
            </a:extLst>
          </p:cNvPr>
          <p:cNvSpPr>
            <a:spLocks noGrp="1"/>
          </p:cNvSpPr>
          <p:nvPr>
            <p:ph sz="half" idx="2"/>
          </p:nvPr>
        </p:nvSpPr>
        <p:spPr/>
        <p:txBody>
          <a:bodyPr vert="horz" lIns="91440" tIns="45720" rIns="91440" bIns="45720" rtlCol="0" anchor="t">
            <a:normAutofit/>
          </a:bodyPr>
          <a:lstStyle/>
          <a:p>
            <a:r>
              <a:rPr lang="en-US"/>
              <a:t>Add tap cells</a:t>
            </a:r>
          </a:p>
          <a:p>
            <a:r>
              <a:rPr lang="en-US"/>
              <a:t>Add Power </a:t>
            </a:r>
            <a:r>
              <a:rPr lang="en-US" err="1"/>
              <a:t>Strapes</a:t>
            </a:r>
          </a:p>
          <a:p>
            <a:r>
              <a:rPr lang="en-US"/>
              <a:t>Place I/O pins</a:t>
            </a:r>
          </a:p>
          <a:p>
            <a:r>
              <a:rPr lang="en-US"/>
              <a:t>Place cells </a:t>
            </a:r>
          </a:p>
          <a:p>
            <a:r>
              <a:rPr lang="en-US"/>
              <a:t>Define clock tree</a:t>
            </a:r>
          </a:p>
          <a:p>
            <a:r>
              <a:rPr lang="en-US"/>
              <a:t>Define </a:t>
            </a:r>
            <a:r>
              <a:rPr lang="en-US" err="1"/>
              <a:t>Keepouts</a:t>
            </a:r>
            <a:r>
              <a:rPr lang="en-US"/>
              <a:t> for easy routing before adding filler cells</a:t>
            </a:r>
          </a:p>
          <a:p>
            <a:endParaRPr lang="en-US"/>
          </a:p>
        </p:txBody>
      </p:sp>
      <p:pic>
        <p:nvPicPr>
          <p:cNvPr id="12" name="Content Placeholder 11">
            <a:extLst>
              <a:ext uri="{FF2B5EF4-FFF2-40B4-BE49-F238E27FC236}">
                <a16:creationId xmlns:a16="http://schemas.microsoft.com/office/drawing/2014/main" id="{D1811A1B-407B-1BCC-B161-766151D09363}"/>
              </a:ext>
            </a:extLst>
          </p:cNvPr>
          <p:cNvPicPr>
            <a:picLocks noGrp="1" noChangeAspect="1"/>
          </p:cNvPicPr>
          <p:nvPr>
            <p:ph sz="half" idx="1"/>
          </p:nvPr>
        </p:nvPicPr>
        <p:blipFill>
          <a:blip r:embed="rId2"/>
          <a:stretch>
            <a:fillRect/>
          </a:stretch>
        </p:blipFill>
        <p:spPr>
          <a:xfrm>
            <a:off x="838200" y="2011929"/>
            <a:ext cx="5181600" cy="3978729"/>
          </a:xfrm>
        </p:spPr>
      </p:pic>
    </p:spTree>
    <p:extLst>
      <p:ext uri="{BB962C8B-B14F-4D97-AF65-F5344CB8AC3E}">
        <p14:creationId xmlns:p14="http://schemas.microsoft.com/office/powerpoint/2010/main" val="4607018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463F1-3A0E-2D37-5A71-8A2DDAF76561}"/>
              </a:ext>
            </a:extLst>
          </p:cNvPr>
          <p:cNvSpPr>
            <a:spLocks noGrp="1"/>
          </p:cNvSpPr>
          <p:nvPr>
            <p:ph type="title"/>
          </p:nvPr>
        </p:nvSpPr>
        <p:spPr/>
        <p:txBody>
          <a:bodyPr/>
          <a:lstStyle/>
          <a:p>
            <a:r>
              <a:rPr lang="en-US"/>
              <a:t>Route Design</a:t>
            </a:r>
          </a:p>
        </p:txBody>
      </p:sp>
      <p:pic>
        <p:nvPicPr>
          <p:cNvPr id="6" name="Content Placeholder 5">
            <a:extLst>
              <a:ext uri="{FF2B5EF4-FFF2-40B4-BE49-F238E27FC236}">
                <a16:creationId xmlns:a16="http://schemas.microsoft.com/office/drawing/2014/main" id="{822F5349-87E4-6630-4C1D-B5D0C6A66044}"/>
              </a:ext>
            </a:extLst>
          </p:cNvPr>
          <p:cNvPicPr>
            <a:picLocks noGrp="1" noChangeAspect="1"/>
          </p:cNvPicPr>
          <p:nvPr>
            <p:ph sz="half" idx="1"/>
          </p:nvPr>
        </p:nvPicPr>
        <p:blipFill>
          <a:blip r:embed="rId2"/>
          <a:stretch>
            <a:fillRect/>
          </a:stretch>
        </p:blipFill>
        <p:spPr>
          <a:xfrm>
            <a:off x="838200" y="2010990"/>
            <a:ext cx="5181600" cy="3980608"/>
          </a:xfrm>
        </p:spPr>
      </p:pic>
      <p:sp>
        <p:nvSpPr>
          <p:cNvPr id="4" name="Content Placeholder 3">
            <a:extLst>
              <a:ext uri="{FF2B5EF4-FFF2-40B4-BE49-F238E27FC236}">
                <a16:creationId xmlns:a16="http://schemas.microsoft.com/office/drawing/2014/main" id="{5C58EAAE-AC45-274B-E90B-2671A4D42CDB}"/>
              </a:ext>
            </a:extLst>
          </p:cNvPr>
          <p:cNvSpPr>
            <a:spLocks noGrp="1"/>
          </p:cNvSpPr>
          <p:nvPr>
            <p:ph sz="half" idx="2"/>
          </p:nvPr>
        </p:nvSpPr>
        <p:spPr/>
        <p:txBody>
          <a:bodyPr vert="horz" lIns="91440" tIns="45720" rIns="91440" bIns="45720" rtlCol="0" anchor="t">
            <a:normAutofit/>
          </a:bodyPr>
          <a:lstStyle/>
          <a:p>
            <a:r>
              <a:rPr lang="en-US"/>
              <a:t>Route using </a:t>
            </a:r>
            <a:r>
              <a:rPr lang="en-US" err="1">
                <a:solidFill>
                  <a:srgbClr val="000000"/>
                </a:solidFill>
              </a:rPr>
              <a:t>global_detail</a:t>
            </a:r>
            <a:r>
              <a:rPr lang="en-US"/>
              <a:t> to help reduce DRC violations</a:t>
            </a:r>
          </a:p>
          <a:p>
            <a:pPr>
              <a:buNone/>
            </a:pPr>
            <a:endParaRPr lang="en-US"/>
          </a:p>
        </p:txBody>
      </p:sp>
      <p:pic>
        <p:nvPicPr>
          <p:cNvPr id="7" name="Picture 6" descr="A close-up of a text&#10;&#10;AI-generated content may be incorrect.">
            <a:extLst>
              <a:ext uri="{FF2B5EF4-FFF2-40B4-BE49-F238E27FC236}">
                <a16:creationId xmlns:a16="http://schemas.microsoft.com/office/drawing/2014/main" id="{CCC35F07-4D3C-6861-87A7-EC6665BD85C8}"/>
              </a:ext>
            </a:extLst>
          </p:cNvPr>
          <p:cNvPicPr>
            <a:picLocks noChangeAspect="1"/>
          </p:cNvPicPr>
          <p:nvPr/>
        </p:nvPicPr>
        <p:blipFill>
          <a:blip r:embed="rId3"/>
          <a:stretch>
            <a:fillRect/>
          </a:stretch>
        </p:blipFill>
        <p:spPr>
          <a:xfrm>
            <a:off x="6671349" y="3270207"/>
            <a:ext cx="4350316" cy="1904216"/>
          </a:xfrm>
          <a:prstGeom prst="rect">
            <a:avLst/>
          </a:prstGeom>
        </p:spPr>
      </p:pic>
    </p:spTree>
    <p:extLst>
      <p:ext uri="{BB962C8B-B14F-4D97-AF65-F5344CB8AC3E}">
        <p14:creationId xmlns:p14="http://schemas.microsoft.com/office/powerpoint/2010/main" val="34743751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3062B-B21E-EAC0-3D28-7C80EA9D919C}"/>
              </a:ext>
            </a:extLst>
          </p:cNvPr>
          <p:cNvSpPr>
            <a:spLocks noGrp="1"/>
          </p:cNvSpPr>
          <p:nvPr>
            <p:ph type="title"/>
          </p:nvPr>
        </p:nvSpPr>
        <p:spPr/>
        <p:txBody>
          <a:bodyPr/>
          <a:lstStyle/>
          <a:p>
            <a:r>
              <a:rPr lang="en-US"/>
              <a:t>Create the needed file for the next Process</a:t>
            </a:r>
          </a:p>
        </p:txBody>
      </p:sp>
      <p:sp>
        <p:nvSpPr>
          <p:cNvPr id="3" name="Content Placeholder 2">
            <a:extLst>
              <a:ext uri="{FF2B5EF4-FFF2-40B4-BE49-F238E27FC236}">
                <a16:creationId xmlns:a16="http://schemas.microsoft.com/office/drawing/2014/main" id="{1B45A9CC-DFDC-C6EF-A0DA-1992DD5F8E5A}"/>
              </a:ext>
            </a:extLst>
          </p:cNvPr>
          <p:cNvSpPr>
            <a:spLocks noGrp="1"/>
          </p:cNvSpPr>
          <p:nvPr>
            <p:ph idx="1"/>
          </p:nvPr>
        </p:nvSpPr>
        <p:spPr/>
        <p:txBody>
          <a:bodyPr vert="horz" lIns="91440" tIns="45720" rIns="91440" bIns="45720" rtlCol="0" anchor="t">
            <a:normAutofit/>
          </a:bodyPr>
          <a:lstStyle/>
          <a:p>
            <a:r>
              <a:rPr lang="en-US"/>
              <a:t>Generate a def file for  </a:t>
            </a:r>
            <a:r>
              <a:rPr lang="en-US" err="1"/>
              <a:t>orphyiscal</a:t>
            </a:r>
            <a:r>
              <a:rPr lang="en-US"/>
              <a:t> implementation</a:t>
            </a:r>
          </a:p>
          <a:p>
            <a:r>
              <a:rPr lang="en-US"/>
              <a:t>Generate a netlist for lvs that  contains only the transistor level description of the desing without any physical description</a:t>
            </a:r>
          </a:p>
        </p:txBody>
      </p:sp>
    </p:spTree>
    <p:extLst>
      <p:ext uri="{BB962C8B-B14F-4D97-AF65-F5344CB8AC3E}">
        <p14:creationId xmlns:p14="http://schemas.microsoft.com/office/powerpoint/2010/main" val="30933405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8270D-508B-66B4-33E6-9433C6A7DAE7}"/>
              </a:ext>
            </a:extLst>
          </p:cNvPr>
          <p:cNvSpPr>
            <a:spLocks noGrp="1"/>
          </p:cNvSpPr>
          <p:nvPr>
            <p:ph type="title"/>
          </p:nvPr>
        </p:nvSpPr>
        <p:spPr/>
        <p:txBody>
          <a:bodyPr/>
          <a:lstStyle/>
          <a:p>
            <a:r>
              <a:rPr lang="en-US"/>
              <a:t>Design Report (Area)</a:t>
            </a:r>
          </a:p>
        </p:txBody>
      </p:sp>
      <p:pic>
        <p:nvPicPr>
          <p:cNvPr id="8" name="Content Placeholder 7">
            <a:extLst>
              <a:ext uri="{FF2B5EF4-FFF2-40B4-BE49-F238E27FC236}">
                <a16:creationId xmlns:a16="http://schemas.microsoft.com/office/drawing/2014/main" id="{FE5F881A-6A21-303F-382D-B8D6F953EC88}"/>
              </a:ext>
            </a:extLst>
          </p:cNvPr>
          <p:cNvPicPr>
            <a:picLocks noGrp="1" noChangeAspect="1"/>
          </p:cNvPicPr>
          <p:nvPr>
            <p:ph idx="1"/>
          </p:nvPr>
        </p:nvPicPr>
        <p:blipFill>
          <a:blip r:embed="rId2"/>
          <a:stretch>
            <a:fillRect/>
          </a:stretch>
        </p:blipFill>
        <p:spPr>
          <a:xfrm>
            <a:off x="1968285" y="1825625"/>
            <a:ext cx="8255429" cy="4351338"/>
          </a:xfrm>
        </p:spPr>
      </p:pic>
    </p:spTree>
    <p:extLst>
      <p:ext uri="{BB962C8B-B14F-4D97-AF65-F5344CB8AC3E}">
        <p14:creationId xmlns:p14="http://schemas.microsoft.com/office/powerpoint/2010/main" val="6230409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2C84E-9645-5524-4500-F82B76CBC0ED}"/>
              </a:ext>
            </a:extLst>
          </p:cNvPr>
          <p:cNvSpPr>
            <a:spLocks noGrp="1"/>
          </p:cNvSpPr>
          <p:nvPr>
            <p:ph type="title"/>
          </p:nvPr>
        </p:nvSpPr>
        <p:spPr/>
        <p:txBody>
          <a:bodyPr/>
          <a:lstStyle/>
          <a:p>
            <a:r>
              <a:rPr lang="en-US"/>
              <a:t>Design Report (Power)</a:t>
            </a:r>
          </a:p>
        </p:txBody>
      </p:sp>
      <p:pic>
        <p:nvPicPr>
          <p:cNvPr id="4" name="Content Placeholder 3" descr="A screenshot of a computer&#10;&#10;AI-generated content may be incorrect.">
            <a:extLst>
              <a:ext uri="{FF2B5EF4-FFF2-40B4-BE49-F238E27FC236}">
                <a16:creationId xmlns:a16="http://schemas.microsoft.com/office/drawing/2014/main" id="{6744396A-5711-3591-CC6F-059B652AFB5B}"/>
              </a:ext>
            </a:extLst>
          </p:cNvPr>
          <p:cNvPicPr>
            <a:picLocks noGrp="1" noChangeAspect="1"/>
          </p:cNvPicPr>
          <p:nvPr>
            <p:ph idx="1"/>
          </p:nvPr>
        </p:nvPicPr>
        <p:blipFill>
          <a:blip r:embed="rId2"/>
          <a:stretch>
            <a:fillRect/>
          </a:stretch>
        </p:blipFill>
        <p:spPr>
          <a:xfrm>
            <a:off x="2381365" y="1825625"/>
            <a:ext cx="6750777" cy="4570543"/>
          </a:xfrm>
        </p:spPr>
      </p:pic>
    </p:spTree>
    <p:extLst>
      <p:ext uri="{BB962C8B-B14F-4D97-AF65-F5344CB8AC3E}">
        <p14:creationId xmlns:p14="http://schemas.microsoft.com/office/powerpoint/2010/main" val="2477457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50595-DE80-5852-45D6-C5CFBE461892}"/>
              </a:ext>
            </a:extLst>
          </p:cNvPr>
          <p:cNvSpPr>
            <a:spLocks noGrp="1"/>
          </p:cNvSpPr>
          <p:nvPr>
            <p:ph type="title"/>
          </p:nvPr>
        </p:nvSpPr>
        <p:spPr/>
        <p:txBody>
          <a:bodyPr/>
          <a:lstStyle/>
          <a:p>
            <a:r>
              <a:rPr lang="en-US"/>
              <a:t>Design Report (Setup/timing)</a:t>
            </a:r>
          </a:p>
        </p:txBody>
      </p:sp>
      <p:pic>
        <p:nvPicPr>
          <p:cNvPr id="4" name="Content Placeholder 3" descr="A screenshot of a computer&#10;&#10;AI-generated content may be incorrect.">
            <a:extLst>
              <a:ext uri="{FF2B5EF4-FFF2-40B4-BE49-F238E27FC236}">
                <a16:creationId xmlns:a16="http://schemas.microsoft.com/office/drawing/2014/main" id="{2C47821D-EBF3-4F1C-6857-19774A61C06D}"/>
              </a:ext>
            </a:extLst>
          </p:cNvPr>
          <p:cNvPicPr>
            <a:picLocks noGrp="1" noChangeAspect="1"/>
          </p:cNvPicPr>
          <p:nvPr>
            <p:ph idx="1"/>
          </p:nvPr>
        </p:nvPicPr>
        <p:blipFill>
          <a:blip r:embed="rId2"/>
          <a:stretch>
            <a:fillRect/>
          </a:stretch>
        </p:blipFill>
        <p:spPr>
          <a:xfrm>
            <a:off x="1838441" y="1825625"/>
            <a:ext cx="8515118" cy="4351338"/>
          </a:xfrm>
        </p:spPr>
      </p:pic>
    </p:spTree>
    <p:extLst>
      <p:ext uri="{BB962C8B-B14F-4D97-AF65-F5344CB8AC3E}">
        <p14:creationId xmlns:p14="http://schemas.microsoft.com/office/powerpoint/2010/main" val="21181990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A1C1C-EFDD-C9CE-AF4E-7FA673F9658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96749DC-D130-B733-61EC-FF4636689CE8}"/>
              </a:ext>
            </a:extLst>
          </p:cNvPr>
          <p:cNvSpPr>
            <a:spLocks noGrp="1"/>
          </p:cNvSpPr>
          <p:nvPr>
            <p:ph idx="1"/>
          </p:nvPr>
        </p:nvSpPr>
        <p:spPr/>
        <p:txBody>
          <a:bodyPr/>
          <a:lstStyle/>
          <a:p>
            <a:endParaRPr lang="en-US"/>
          </a:p>
        </p:txBody>
      </p:sp>
      <p:sp useBgFill="1">
        <p:nvSpPr>
          <p:cNvPr id="5" name="Rectangle 4">
            <a:extLst>
              <a:ext uri="{FF2B5EF4-FFF2-40B4-BE49-F238E27FC236}">
                <a16:creationId xmlns:a16="http://schemas.microsoft.com/office/drawing/2014/main" id="{95E77763-48DF-B6DD-D45C-35200E3237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40431CF2-9B5E-C7AC-DD36-518D00076B6D}"/>
              </a:ext>
            </a:extLst>
          </p:cNvPr>
          <p:cNvSpPr txBox="1">
            <a:spLocks/>
          </p:cNvSpPr>
          <p:nvPr/>
        </p:nvSpPr>
        <p:spPr>
          <a:xfrm>
            <a:off x="841248" y="256032"/>
            <a:ext cx="10506456" cy="101498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PPA after PNR</a:t>
            </a:r>
          </a:p>
        </p:txBody>
      </p:sp>
      <p:sp>
        <p:nvSpPr>
          <p:cNvPr id="9" name="Rectangle 8">
            <a:extLst>
              <a:ext uri="{FF2B5EF4-FFF2-40B4-BE49-F238E27FC236}">
                <a16:creationId xmlns:a16="http://schemas.microsoft.com/office/drawing/2014/main" id="{B9B2F43C-A9A1-83DB-F802-AC0079915B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1" name="Rectangle 10">
            <a:extLst>
              <a:ext uri="{FF2B5EF4-FFF2-40B4-BE49-F238E27FC236}">
                <a16:creationId xmlns:a16="http://schemas.microsoft.com/office/drawing/2014/main" id="{AA813C2C-B318-7D17-04B8-57E1B12EA2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13" name="Content Placeholder 5">
            <a:extLst>
              <a:ext uri="{FF2B5EF4-FFF2-40B4-BE49-F238E27FC236}">
                <a16:creationId xmlns:a16="http://schemas.microsoft.com/office/drawing/2014/main" id="{95CD1B67-80E8-A534-3CF2-E355C6EC9E8A}"/>
              </a:ext>
            </a:extLst>
          </p:cNvPr>
          <p:cNvGraphicFramePr>
            <a:graphicFrameLocks/>
          </p:cNvGraphicFramePr>
          <p:nvPr>
            <p:extLst>
              <p:ext uri="{D42A27DB-BD31-4B8C-83A1-F6EECF244321}">
                <p14:modId xmlns:p14="http://schemas.microsoft.com/office/powerpoint/2010/main" val="451969208"/>
              </p:ext>
            </p:extLst>
          </p:nvPr>
        </p:nvGraphicFramePr>
        <p:xfrm>
          <a:off x="872434" y="2506869"/>
          <a:ext cx="8214825" cy="3662513"/>
        </p:xfrm>
        <a:graphic>
          <a:graphicData uri="http://schemas.openxmlformats.org/drawingml/2006/table">
            <a:tbl>
              <a:tblPr bandRow="1">
                <a:tableStyleId>{5C22544A-7EE6-4342-B048-85BDC9FD1C3A}</a:tableStyleId>
              </a:tblPr>
              <a:tblGrid>
                <a:gridCol w="3538602">
                  <a:extLst>
                    <a:ext uri="{9D8B030D-6E8A-4147-A177-3AD203B41FA5}">
                      <a16:colId xmlns:a16="http://schemas.microsoft.com/office/drawing/2014/main" val="2616957093"/>
                    </a:ext>
                  </a:extLst>
                </a:gridCol>
                <a:gridCol w="4676223">
                  <a:extLst>
                    <a:ext uri="{9D8B030D-6E8A-4147-A177-3AD203B41FA5}">
                      <a16:colId xmlns:a16="http://schemas.microsoft.com/office/drawing/2014/main" val="3567444122"/>
                    </a:ext>
                  </a:extLst>
                </a:gridCol>
              </a:tblGrid>
              <a:tr h="771056">
                <a:tc>
                  <a:txBody>
                    <a:bodyPr/>
                    <a:lstStyle/>
                    <a:p>
                      <a:pPr marL="0" algn="l" rtl="0" eaLnBrk="1" latinLnBrk="0" hangingPunct="1">
                        <a:buNone/>
                      </a:pPr>
                      <a:r>
                        <a:rPr lang="en-US" sz="2000" kern="1200">
                          <a:solidFill>
                            <a:srgbClr val="000000"/>
                          </a:solidFill>
                          <a:effectLst/>
                          <a:latin typeface="Aptos"/>
                        </a:rPr>
                        <a:t>PPA</a:t>
                      </a:r>
                      <a:endParaRPr lang="en-US" sz="2000">
                        <a:effectLst/>
                        <a:latin typeface="Aptos"/>
                      </a:endParaRPr>
                    </a:p>
                  </a:txBody>
                  <a:tcPr marL="0" marR="0" marT="0" marB="0" anchor="ctr">
                    <a:lnL>
                      <a:noFill/>
                    </a:lnL>
                    <a:lnR>
                      <a:noFill/>
                    </a:lnR>
                    <a:lnT>
                      <a:noFill/>
                    </a:lnT>
                    <a:lnB>
                      <a:noFill/>
                    </a:lnB>
                    <a:noFill/>
                  </a:tcPr>
                </a:tc>
                <a:tc>
                  <a:txBody>
                    <a:bodyPr/>
                    <a:lstStyle/>
                    <a:p>
                      <a:pPr marL="0" algn="l" rtl="0" eaLnBrk="1" latinLnBrk="0" hangingPunct="1">
                        <a:buNone/>
                      </a:pPr>
                      <a:r>
                        <a:rPr lang="en-US" sz="2000" kern="1200">
                          <a:solidFill>
                            <a:srgbClr val="000000"/>
                          </a:solidFill>
                          <a:effectLst/>
                          <a:latin typeface="Aptos"/>
                        </a:rPr>
                        <a:t>Value</a:t>
                      </a:r>
                      <a:endParaRPr lang="en-US" sz="2000">
                        <a:effectLst/>
                        <a:latin typeface="Aptos"/>
                      </a:endParaRPr>
                    </a:p>
                  </a:txBody>
                  <a:tcPr marL="0" marR="0" marT="0" marB="0" anchor="ctr">
                    <a:lnL>
                      <a:noFill/>
                    </a:lnL>
                    <a:lnR>
                      <a:noFill/>
                    </a:lnR>
                    <a:lnT>
                      <a:noFill/>
                    </a:lnT>
                    <a:lnB>
                      <a:noFill/>
                    </a:lnB>
                    <a:noFill/>
                  </a:tcPr>
                </a:tc>
                <a:extLst>
                  <a:ext uri="{0D108BD9-81ED-4DB2-BD59-A6C34878D82A}">
                    <a16:rowId xmlns:a16="http://schemas.microsoft.com/office/drawing/2014/main" val="160766301"/>
                  </a:ext>
                </a:extLst>
              </a:tr>
              <a:tr h="771056">
                <a:tc>
                  <a:txBody>
                    <a:bodyPr/>
                    <a:lstStyle/>
                    <a:p>
                      <a:pPr marL="0" algn="l" rtl="0" eaLnBrk="1" latinLnBrk="0" hangingPunct="1">
                        <a:buNone/>
                      </a:pPr>
                      <a:r>
                        <a:rPr lang="en-US" sz="2000" kern="1200">
                          <a:solidFill>
                            <a:srgbClr val="000000"/>
                          </a:solidFill>
                          <a:effectLst/>
                          <a:latin typeface="Aptos"/>
                        </a:rPr>
                        <a:t>Power </a:t>
                      </a:r>
                      <a:endParaRPr lang="en-US" sz="2000">
                        <a:effectLst/>
                        <a:latin typeface="Aptos"/>
                      </a:endParaRPr>
                    </a:p>
                  </a:txBody>
                  <a:tcPr marL="0" marR="0" marT="0" marB="0" anchor="ctr">
                    <a:lnL>
                      <a:noFill/>
                    </a:lnL>
                    <a:lnR>
                      <a:noFill/>
                    </a:lnR>
                    <a:lnT>
                      <a:noFill/>
                    </a:lnT>
                    <a:lnB>
                      <a:noFill/>
                    </a:lnB>
                    <a:noFill/>
                  </a:tcPr>
                </a:tc>
                <a:tc>
                  <a:txBody>
                    <a:bodyPr/>
                    <a:lstStyle/>
                    <a:p>
                      <a:pPr marL="0" algn="l" rtl="0" eaLnBrk="1" latinLnBrk="0" hangingPunct="1">
                        <a:buNone/>
                      </a:pPr>
                      <a:r>
                        <a:rPr lang="en-US" sz="2000" kern="1200">
                          <a:solidFill>
                            <a:srgbClr val="000000"/>
                          </a:solidFill>
                          <a:effectLst/>
                          <a:latin typeface="Aptos"/>
                        </a:rPr>
                        <a:t>0.19334916 </a:t>
                      </a:r>
                      <a:r>
                        <a:rPr lang="en-US" sz="2000" kern="1200" err="1">
                          <a:solidFill>
                            <a:srgbClr val="000000"/>
                          </a:solidFill>
                          <a:effectLst/>
                          <a:latin typeface="Aptos"/>
                        </a:rPr>
                        <a:t>mW</a:t>
                      </a:r>
                      <a:endParaRPr lang="en-US" sz="2000">
                        <a:effectLst/>
                        <a:latin typeface="Aptos"/>
                      </a:endParaRPr>
                    </a:p>
                  </a:txBody>
                  <a:tcPr marL="0" marR="0" marT="0" marB="0" anchor="ctr">
                    <a:lnL>
                      <a:noFill/>
                    </a:lnL>
                    <a:lnR>
                      <a:noFill/>
                    </a:lnR>
                    <a:lnT>
                      <a:noFill/>
                    </a:lnT>
                    <a:lnB>
                      <a:noFill/>
                    </a:lnB>
                    <a:noFill/>
                  </a:tcPr>
                </a:tc>
                <a:extLst>
                  <a:ext uri="{0D108BD9-81ED-4DB2-BD59-A6C34878D82A}">
                    <a16:rowId xmlns:a16="http://schemas.microsoft.com/office/drawing/2014/main" val="2674303130"/>
                  </a:ext>
                </a:extLst>
              </a:tr>
              <a:tr h="1349345">
                <a:tc>
                  <a:txBody>
                    <a:bodyPr/>
                    <a:lstStyle/>
                    <a:p>
                      <a:pPr marL="0" algn="l" rtl="0" eaLnBrk="1" latinLnBrk="0" hangingPunct="1">
                        <a:buNone/>
                      </a:pPr>
                      <a:r>
                        <a:rPr lang="en-US" sz="2000" kern="1200">
                          <a:solidFill>
                            <a:srgbClr val="000000"/>
                          </a:solidFill>
                          <a:effectLst/>
                          <a:latin typeface="Aptos"/>
                        </a:rPr>
                        <a:t>Performance</a:t>
                      </a:r>
                      <a:endParaRPr lang="en-US" sz="2000">
                        <a:effectLst/>
                        <a:latin typeface="Aptos"/>
                      </a:endParaRPr>
                    </a:p>
                  </a:txBody>
                  <a:tcPr marL="0" marR="0" marT="0" marB="0" anchor="ctr">
                    <a:lnL>
                      <a:noFill/>
                    </a:lnL>
                    <a:lnR>
                      <a:noFill/>
                    </a:lnR>
                    <a:lnT>
                      <a:noFill/>
                    </a:lnT>
                    <a:lnB>
                      <a:noFill/>
                    </a:lnB>
                    <a:noFill/>
                  </a:tcPr>
                </a:tc>
                <a:tc>
                  <a:txBody>
                    <a:bodyPr/>
                    <a:lstStyle/>
                    <a:p>
                      <a:pPr marL="0" algn="l" rtl="0" eaLnBrk="1" latinLnBrk="0" hangingPunct="1">
                        <a:buNone/>
                      </a:pPr>
                      <a:r>
                        <a:rPr lang="en-US" sz="2000" kern="1200">
                          <a:solidFill>
                            <a:srgbClr val="000000"/>
                          </a:solidFill>
                          <a:effectLst/>
                          <a:latin typeface="Aptos"/>
                        </a:rPr>
                        <a:t>33326.020 </a:t>
                      </a:r>
                      <a:r>
                        <a:rPr lang="en-US" sz="2000" kern="1200" err="1">
                          <a:solidFill>
                            <a:srgbClr val="000000"/>
                          </a:solidFill>
                          <a:effectLst/>
                          <a:latin typeface="Aptos"/>
                        </a:rPr>
                        <a:t>ps</a:t>
                      </a:r>
                      <a:r>
                        <a:rPr lang="en-US" sz="2000" kern="1200">
                          <a:solidFill>
                            <a:srgbClr val="000000"/>
                          </a:solidFill>
                          <a:effectLst/>
                          <a:latin typeface="Aptos"/>
                        </a:rPr>
                        <a:t> = 30.011 MHz</a:t>
                      </a:r>
                      <a:endParaRPr lang="en-US" sz="2000">
                        <a:effectLst/>
                        <a:latin typeface="Aptos"/>
                      </a:endParaRPr>
                    </a:p>
                  </a:txBody>
                  <a:tcPr marL="0" marR="0" marT="0" marB="0" anchor="ctr">
                    <a:lnL>
                      <a:noFill/>
                    </a:lnL>
                    <a:lnR>
                      <a:noFill/>
                    </a:lnR>
                    <a:lnT>
                      <a:noFill/>
                    </a:lnT>
                    <a:lnB>
                      <a:noFill/>
                    </a:lnB>
                    <a:noFill/>
                  </a:tcPr>
                </a:tc>
                <a:extLst>
                  <a:ext uri="{0D108BD9-81ED-4DB2-BD59-A6C34878D82A}">
                    <a16:rowId xmlns:a16="http://schemas.microsoft.com/office/drawing/2014/main" val="2852308024"/>
                  </a:ext>
                </a:extLst>
              </a:tr>
              <a:tr h="771056">
                <a:tc>
                  <a:txBody>
                    <a:bodyPr/>
                    <a:lstStyle/>
                    <a:p>
                      <a:pPr marL="0" algn="l" rtl="0" eaLnBrk="1" latinLnBrk="0" hangingPunct="1">
                        <a:buNone/>
                      </a:pPr>
                      <a:r>
                        <a:rPr lang="en-US" sz="2000" kern="1200">
                          <a:solidFill>
                            <a:srgbClr val="000000"/>
                          </a:solidFill>
                          <a:effectLst/>
                          <a:latin typeface="Aptos"/>
                        </a:rPr>
                        <a:t>Area (Design_area + </a:t>
                      </a:r>
                      <a:r>
                        <a:rPr lang="en-US" sz="2000" kern="1200" err="1">
                          <a:solidFill>
                            <a:srgbClr val="000000"/>
                          </a:solidFill>
                          <a:effectLst/>
                          <a:latin typeface="Aptos"/>
                        </a:rPr>
                        <a:t>cell_area</a:t>
                      </a:r>
                      <a:r>
                        <a:rPr lang="en-US" sz="2000" kern="1200">
                          <a:solidFill>
                            <a:srgbClr val="000000"/>
                          </a:solidFill>
                          <a:effectLst/>
                          <a:latin typeface="Aptos"/>
                        </a:rPr>
                        <a:t>)</a:t>
                      </a:r>
                      <a:endParaRPr lang="en-US" sz="2000">
                        <a:effectLst/>
                        <a:latin typeface="Aptos"/>
                      </a:endParaRPr>
                    </a:p>
                  </a:txBody>
                  <a:tcPr marL="0" marR="0" marT="0" marB="0" anchor="ctr">
                    <a:lnL>
                      <a:noFill/>
                    </a:lnL>
                    <a:lnR>
                      <a:noFill/>
                    </a:lnR>
                    <a:lnT>
                      <a:noFill/>
                    </a:lnT>
                    <a:lnB>
                      <a:noFill/>
                    </a:lnB>
                    <a:noFill/>
                  </a:tcPr>
                </a:tc>
                <a:tc>
                  <a:txBody>
                    <a:bodyPr/>
                    <a:lstStyle/>
                    <a:p>
                      <a:pPr marL="0" algn="l" rtl="0" eaLnBrk="1" latinLnBrk="0" hangingPunct="1">
                        <a:buNone/>
                      </a:pPr>
                      <a:r>
                        <a:rPr lang="en-US" sz="2000" kern="1200">
                          <a:solidFill>
                            <a:srgbClr val="000000"/>
                          </a:solidFill>
                          <a:effectLst/>
                          <a:latin typeface="Aptos"/>
                        </a:rPr>
                        <a:t>51150.28 µm²</a:t>
                      </a:r>
                      <a:endParaRPr lang="en-US" sz="2000">
                        <a:effectLst/>
                        <a:latin typeface="Aptos"/>
                      </a:endParaRPr>
                    </a:p>
                  </a:txBody>
                  <a:tcPr marL="0" marR="0" marT="0" marB="0" anchor="ctr">
                    <a:lnL>
                      <a:noFill/>
                    </a:lnL>
                    <a:lnR>
                      <a:noFill/>
                    </a:lnR>
                    <a:lnT>
                      <a:noFill/>
                    </a:lnT>
                    <a:lnB>
                      <a:noFill/>
                    </a:lnB>
                    <a:noFill/>
                  </a:tcPr>
                </a:tc>
                <a:extLst>
                  <a:ext uri="{0D108BD9-81ED-4DB2-BD59-A6C34878D82A}">
                    <a16:rowId xmlns:a16="http://schemas.microsoft.com/office/drawing/2014/main" val="4066571780"/>
                  </a:ext>
                </a:extLst>
              </a:tr>
            </a:tbl>
          </a:graphicData>
        </a:graphic>
      </p:graphicFrame>
    </p:spTree>
    <p:extLst>
      <p:ext uri="{BB962C8B-B14F-4D97-AF65-F5344CB8AC3E}">
        <p14:creationId xmlns:p14="http://schemas.microsoft.com/office/powerpoint/2010/main" val="594320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BFDA9-88FA-C92E-7426-3236FA384F4B}"/>
              </a:ext>
            </a:extLst>
          </p:cNvPr>
          <p:cNvSpPr>
            <a:spLocks noGrp="1"/>
          </p:cNvSpPr>
          <p:nvPr>
            <p:ph type="title"/>
          </p:nvPr>
        </p:nvSpPr>
        <p:spPr/>
        <p:txBody>
          <a:bodyPr/>
          <a:lstStyle/>
          <a:p>
            <a:r>
              <a:rPr lang="en-US"/>
              <a:t>PPA Syn vs </a:t>
            </a:r>
            <a:r>
              <a:rPr lang="en-US" err="1"/>
              <a:t>PnR</a:t>
            </a:r>
          </a:p>
        </p:txBody>
      </p:sp>
      <p:graphicFrame>
        <p:nvGraphicFramePr>
          <p:cNvPr id="5" name="Content Placeholder 4">
            <a:extLst>
              <a:ext uri="{FF2B5EF4-FFF2-40B4-BE49-F238E27FC236}">
                <a16:creationId xmlns:a16="http://schemas.microsoft.com/office/drawing/2014/main" id="{81499205-7564-9DBB-C6CD-40D29EA27928}"/>
              </a:ext>
            </a:extLst>
          </p:cNvPr>
          <p:cNvGraphicFramePr>
            <a:graphicFrameLocks noGrp="1"/>
          </p:cNvGraphicFramePr>
          <p:nvPr>
            <p:ph idx="1"/>
            <p:extLst>
              <p:ext uri="{D42A27DB-BD31-4B8C-83A1-F6EECF244321}">
                <p14:modId xmlns:p14="http://schemas.microsoft.com/office/powerpoint/2010/main" val="2841256263"/>
              </p:ext>
            </p:extLst>
          </p:nvPr>
        </p:nvGraphicFramePr>
        <p:xfrm>
          <a:off x="838200" y="1825625"/>
          <a:ext cx="9626567" cy="4035199"/>
        </p:xfrm>
        <a:graphic>
          <a:graphicData uri="http://schemas.openxmlformats.org/drawingml/2006/table">
            <a:tbl>
              <a:tblPr bandRow="1">
                <a:tableStyleId>{5C22544A-7EE6-4342-B048-85BDC9FD1C3A}</a:tableStyleId>
              </a:tblPr>
              <a:tblGrid>
                <a:gridCol w="3674301">
                  <a:extLst>
                    <a:ext uri="{9D8B030D-6E8A-4147-A177-3AD203B41FA5}">
                      <a16:colId xmlns:a16="http://schemas.microsoft.com/office/drawing/2014/main" val="1711080809"/>
                    </a:ext>
                  </a:extLst>
                </a:gridCol>
                <a:gridCol w="2901860">
                  <a:extLst>
                    <a:ext uri="{9D8B030D-6E8A-4147-A177-3AD203B41FA5}">
                      <a16:colId xmlns:a16="http://schemas.microsoft.com/office/drawing/2014/main" val="3457582887"/>
                    </a:ext>
                  </a:extLst>
                </a:gridCol>
                <a:gridCol w="3050406">
                  <a:extLst>
                    <a:ext uri="{9D8B030D-6E8A-4147-A177-3AD203B41FA5}">
                      <a16:colId xmlns:a16="http://schemas.microsoft.com/office/drawing/2014/main" val="1249633102"/>
                    </a:ext>
                  </a:extLst>
                </a:gridCol>
              </a:tblGrid>
              <a:tr h="634980">
                <a:tc>
                  <a:txBody>
                    <a:bodyPr/>
                    <a:lstStyle/>
                    <a:p>
                      <a:pPr>
                        <a:buNone/>
                      </a:pPr>
                      <a:r>
                        <a:rPr lang="en-US">
                          <a:effectLst/>
                        </a:rPr>
                        <a:t>PPA</a:t>
                      </a:r>
                    </a:p>
                  </a:txBody>
                  <a:tcPr marL="0" marR="0" marT="0" marB="0" anchor="ctr">
                    <a:lnL>
                      <a:noFill/>
                    </a:lnL>
                    <a:lnR>
                      <a:noFill/>
                    </a:lnR>
                    <a:lnT>
                      <a:noFill/>
                    </a:lnT>
                    <a:lnB>
                      <a:noFill/>
                    </a:lnB>
                    <a:noFill/>
                  </a:tcPr>
                </a:tc>
                <a:tc>
                  <a:txBody>
                    <a:bodyPr/>
                    <a:lstStyle/>
                    <a:p>
                      <a:pPr algn="l"/>
                      <a:r>
                        <a:rPr lang="en-US">
                          <a:effectLst/>
                        </a:rPr>
                        <a:t>Syn Values</a:t>
                      </a:r>
                    </a:p>
                  </a:txBody>
                  <a:tcPr marL="0" marR="0" marT="0" marB="0" anchor="ctr">
                    <a:lnL>
                      <a:noFill/>
                    </a:lnL>
                    <a:lnR>
                      <a:noFill/>
                    </a:lnR>
                    <a:lnT>
                      <a:noFill/>
                    </a:lnT>
                    <a:lnB>
                      <a:noFill/>
                    </a:lnB>
                    <a:noFill/>
                  </a:tcPr>
                </a:tc>
                <a:tc>
                  <a:txBody>
                    <a:bodyPr/>
                    <a:lstStyle/>
                    <a:p>
                      <a:pPr>
                        <a:buNone/>
                      </a:pPr>
                      <a:r>
                        <a:rPr lang="en-US" err="1">
                          <a:effectLst/>
                        </a:rPr>
                        <a:t>PnR</a:t>
                      </a:r>
                      <a:r>
                        <a:rPr lang="en-US">
                          <a:effectLst/>
                        </a:rPr>
                        <a:t> Values</a:t>
                      </a:r>
                    </a:p>
                  </a:txBody>
                  <a:tcPr marL="0" marR="0" marT="0" marB="0" anchor="ctr">
                    <a:lnL>
                      <a:noFill/>
                    </a:lnL>
                    <a:lnR>
                      <a:noFill/>
                    </a:lnR>
                    <a:lnT>
                      <a:noFill/>
                    </a:lnT>
                    <a:lnB>
                      <a:noFill/>
                    </a:lnB>
                    <a:noFill/>
                  </a:tcPr>
                </a:tc>
                <a:extLst>
                  <a:ext uri="{0D108BD9-81ED-4DB2-BD59-A6C34878D82A}">
                    <a16:rowId xmlns:a16="http://schemas.microsoft.com/office/drawing/2014/main" val="2541287527"/>
                  </a:ext>
                </a:extLst>
              </a:tr>
              <a:tr h="1044649">
                <a:tc>
                  <a:txBody>
                    <a:bodyPr/>
                    <a:lstStyle/>
                    <a:p>
                      <a:pPr>
                        <a:buNone/>
                      </a:pPr>
                      <a:r>
                        <a:rPr lang="en-US">
                          <a:effectLst/>
                        </a:rPr>
                        <a:t>Power</a:t>
                      </a:r>
                    </a:p>
                  </a:txBody>
                  <a:tcPr marL="0" marR="0" marT="0" marB="0" anchor="ctr">
                    <a:lnL>
                      <a:noFill/>
                    </a:lnL>
                    <a:lnR>
                      <a:noFill/>
                    </a:lnR>
                    <a:lnT>
                      <a:noFill/>
                    </a:lnT>
                    <a:lnB>
                      <a:noFill/>
                    </a:lnB>
                    <a:noFill/>
                  </a:tcPr>
                </a:tc>
                <a:tc>
                  <a:txBody>
                    <a:bodyPr/>
                    <a:lstStyle/>
                    <a:p>
                      <a:pPr algn="l"/>
                      <a:r>
                        <a:rPr lang="en-US">
                          <a:effectLst/>
                        </a:rPr>
                        <a:t>5.488410319 </a:t>
                      </a:r>
                      <a:r>
                        <a:rPr lang="en-US" err="1">
                          <a:effectLst/>
                        </a:rPr>
                        <a:t>mW</a:t>
                      </a:r>
                    </a:p>
                  </a:txBody>
                  <a:tcPr marL="0" marR="0" marT="0" marB="0" anchor="ctr">
                    <a:lnL>
                      <a:noFill/>
                    </a:lnL>
                    <a:lnR>
                      <a:noFill/>
                    </a:lnR>
                    <a:lnT>
                      <a:noFill/>
                    </a:lnT>
                    <a:lnB>
                      <a:noFill/>
                    </a:lnB>
                    <a:noFill/>
                  </a:tcPr>
                </a:tc>
                <a:tc>
                  <a:txBody>
                    <a:bodyPr/>
                    <a:lstStyle/>
                    <a:p>
                      <a:pPr>
                        <a:buNone/>
                      </a:pPr>
                      <a:r>
                        <a:rPr lang="en-US">
                          <a:effectLst/>
                        </a:rPr>
                        <a:t>0.19334916 </a:t>
                      </a:r>
                      <a:r>
                        <a:rPr lang="en-US" err="1">
                          <a:effectLst/>
                        </a:rPr>
                        <a:t>mW</a:t>
                      </a:r>
                    </a:p>
                  </a:txBody>
                  <a:tcPr marL="0" marR="0" marT="0" marB="0" anchor="ctr">
                    <a:lnL>
                      <a:noFill/>
                    </a:lnL>
                    <a:lnR>
                      <a:noFill/>
                    </a:lnR>
                    <a:lnT>
                      <a:noFill/>
                    </a:lnT>
                    <a:lnB>
                      <a:noFill/>
                    </a:lnB>
                    <a:noFill/>
                  </a:tcPr>
                </a:tc>
                <a:extLst>
                  <a:ext uri="{0D108BD9-81ED-4DB2-BD59-A6C34878D82A}">
                    <a16:rowId xmlns:a16="http://schemas.microsoft.com/office/drawing/2014/main" val="3563719100"/>
                  </a:ext>
                </a:extLst>
              </a:tr>
              <a:tr h="1290441">
                <a:tc>
                  <a:txBody>
                    <a:bodyPr/>
                    <a:lstStyle/>
                    <a:p>
                      <a:pPr>
                        <a:buNone/>
                      </a:pPr>
                      <a:r>
                        <a:rPr lang="en-US">
                          <a:effectLst/>
                        </a:rPr>
                        <a:t>Performance</a:t>
                      </a:r>
                    </a:p>
                  </a:txBody>
                  <a:tcPr marL="0" marR="0" marT="0" marB="0" anchor="ctr">
                    <a:lnL>
                      <a:noFill/>
                    </a:lnL>
                    <a:lnR>
                      <a:noFill/>
                    </a:lnR>
                    <a:lnT>
                      <a:noFill/>
                    </a:lnT>
                    <a:lnB>
                      <a:noFill/>
                    </a:lnB>
                    <a:noFill/>
                  </a:tcPr>
                </a:tc>
                <a:tc>
                  <a:txBody>
                    <a:bodyPr/>
                    <a:lstStyle/>
                    <a:p>
                      <a:pPr algn="l">
                        <a:buNone/>
                      </a:pPr>
                      <a:endParaRPr lang="en-US">
                        <a:effectLst/>
                      </a:endParaRPr>
                    </a:p>
                    <a:p>
                      <a:pPr algn="l"/>
                      <a:r>
                        <a:rPr lang="en-US">
                          <a:effectLst/>
                        </a:rPr>
                        <a:t>33333 </a:t>
                      </a:r>
                      <a:r>
                        <a:rPr lang="en-US" err="1">
                          <a:effectLst/>
                        </a:rPr>
                        <a:t>ps</a:t>
                      </a:r>
                      <a:r>
                        <a:rPr lang="en-US">
                          <a:effectLst/>
                        </a:rPr>
                        <a:t> = 30 MHz </a:t>
                      </a:r>
                    </a:p>
                  </a:txBody>
                  <a:tcPr marL="0" marR="0" marT="0" marB="0" anchor="ctr">
                    <a:lnL>
                      <a:noFill/>
                    </a:lnL>
                    <a:lnR>
                      <a:noFill/>
                    </a:lnR>
                    <a:lnT>
                      <a:noFill/>
                    </a:lnT>
                    <a:lnB>
                      <a:noFill/>
                    </a:lnB>
                    <a:noFill/>
                  </a:tcPr>
                </a:tc>
                <a:tc>
                  <a:txBody>
                    <a:bodyPr/>
                    <a:lstStyle/>
                    <a:p>
                      <a:pPr>
                        <a:buNone/>
                      </a:pPr>
                      <a:r>
                        <a:rPr lang="en-US">
                          <a:effectLst/>
                        </a:rPr>
                        <a:t>33326.020 </a:t>
                      </a:r>
                      <a:r>
                        <a:rPr lang="en-US" err="1">
                          <a:effectLst/>
                        </a:rPr>
                        <a:t>ps</a:t>
                      </a:r>
                      <a:r>
                        <a:rPr lang="en-US">
                          <a:effectLst/>
                        </a:rPr>
                        <a:t> = 30.011 MHz</a:t>
                      </a:r>
                    </a:p>
                  </a:txBody>
                  <a:tcPr marL="0" marR="0" marT="0" marB="0" anchor="ctr">
                    <a:lnL>
                      <a:noFill/>
                    </a:lnL>
                    <a:lnR>
                      <a:noFill/>
                    </a:lnR>
                    <a:lnT>
                      <a:noFill/>
                    </a:lnT>
                    <a:lnB>
                      <a:noFill/>
                    </a:lnB>
                    <a:noFill/>
                  </a:tcPr>
                </a:tc>
                <a:extLst>
                  <a:ext uri="{0D108BD9-81ED-4DB2-BD59-A6C34878D82A}">
                    <a16:rowId xmlns:a16="http://schemas.microsoft.com/office/drawing/2014/main" val="3216091562"/>
                  </a:ext>
                </a:extLst>
              </a:tr>
              <a:tr h="1065129">
                <a:tc>
                  <a:txBody>
                    <a:bodyPr/>
                    <a:lstStyle/>
                    <a:p>
                      <a:pPr>
                        <a:buNone/>
                      </a:pPr>
                      <a:r>
                        <a:rPr lang="en-US">
                          <a:effectLst/>
                        </a:rPr>
                        <a:t>Area </a:t>
                      </a:r>
                      <a:r>
                        <a:rPr lang="en-US" sz="1800" b="0" i="0" u="none" strike="noStrike" noProof="0">
                          <a:solidFill>
                            <a:srgbClr val="000000"/>
                          </a:solidFill>
                          <a:effectLst/>
                          <a:latin typeface="Aptos"/>
                        </a:rPr>
                        <a:t>(</a:t>
                      </a:r>
                      <a:r>
                        <a:rPr lang="en-US" sz="1800" b="0" i="0" u="none" strike="noStrike" noProof="0" err="1">
                          <a:solidFill>
                            <a:srgbClr val="000000"/>
                          </a:solidFill>
                          <a:effectLst/>
                          <a:latin typeface="Aptos"/>
                        </a:rPr>
                        <a:t>Design_area</a:t>
                      </a:r>
                      <a:r>
                        <a:rPr lang="en-US" sz="1800" b="0" i="0" u="none" strike="noStrike" noProof="0">
                          <a:solidFill>
                            <a:srgbClr val="000000"/>
                          </a:solidFill>
                          <a:effectLst/>
                          <a:latin typeface="Aptos"/>
                        </a:rPr>
                        <a:t> + </a:t>
                      </a:r>
                      <a:r>
                        <a:rPr lang="en-US" sz="1800" b="0" i="0" u="none" strike="noStrike" noProof="0" err="1">
                          <a:solidFill>
                            <a:srgbClr val="000000"/>
                          </a:solidFill>
                          <a:effectLst/>
                          <a:latin typeface="Aptos"/>
                        </a:rPr>
                        <a:t>cell_area</a:t>
                      </a:r>
                      <a:r>
                        <a:rPr lang="en-US" sz="1800" b="0" i="0" u="none" strike="noStrike" noProof="0">
                          <a:solidFill>
                            <a:srgbClr val="000000"/>
                          </a:solidFill>
                          <a:effectLst/>
                          <a:latin typeface="Aptos"/>
                        </a:rPr>
                        <a:t>)</a:t>
                      </a:r>
                      <a:endParaRPr lang="en-US" sz="1800">
                        <a:effectLst/>
                      </a:endParaRPr>
                    </a:p>
                  </a:txBody>
                  <a:tcPr marL="0" marR="0" marT="0" marB="0" anchor="ctr">
                    <a:lnL>
                      <a:noFill/>
                    </a:lnL>
                    <a:lnR>
                      <a:noFill/>
                    </a:lnR>
                    <a:lnT>
                      <a:noFill/>
                    </a:lnT>
                    <a:lnB>
                      <a:noFill/>
                    </a:lnB>
                    <a:noFill/>
                  </a:tcPr>
                </a:tc>
                <a:tc>
                  <a:txBody>
                    <a:bodyPr/>
                    <a:lstStyle/>
                    <a:p>
                      <a:pPr algn="l">
                        <a:buNone/>
                      </a:pPr>
                      <a:endParaRPr lang="en-US">
                        <a:effectLst/>
                      </a:endParaRPr>
                    </a:p>
                    <a:p>
                      <a:pPr algn="l"/>
                      <a:r>
                        <a:rPr lang="en-US">
                          <a:effectLst/>
                        </a:rPr>
                        <a:t>564864 µm² </a:t>
                      </a:r>
                    </a:p>
                  </a:txBody>
                  <a:tcPr marL="0" marR="0" marT="0" marB="0" anchor="ctr">
                    <a:lnL>
                      <a:noFill/>
                    </a:lnL>
                    <a:lnR>
                      <a:noFill/>
                    </a:lnR>
                    <a:lnT>
                      <a:noFill/>
                    </a:lnT>
                    <a:lnB>
                      <a:noFill/>
                    </a:lnB>
                    <a:noFill/>
                  </a:tcPr>
                </a:tc>
                <a:tc>
                  <a:txBody>
                    <a:bodyPr/>
                    <a:lstStyle/>
                    <a:p>
                      <a:pPr>
                        <a:buNone/>
                      </a:pPr>
                      <a:r>
                        <a:rPr lang="en-US">
                          <a:effectLst/>
                        </a:rPr>
                        <a:t>51150.28 µm²</a:t>
                      </a:r>
                    </a:p>
                  </a:txBody>
                  <a:tcPr marL="0" marR="0" marT="0" marB="0" anchor="ctr">
                    <a:lnL>
                      <a:noFill/>
                    </a:lnL>
                    <a:lnR>
                      <a:noFill/>
                    </a:lnR>
                    <a:lnT>
                      <a:noFill/>
                    </a:lnT>
                    <a:lnB>
                      <a:noFill/>
                    </a:lnB>
                    <a:noFill/>
                  </a:tcPr>
                </a:tc>
                <a:extLst>
                  <a:ext uri="{0D108BD9-81ED-4DB2-BD59-A6C34878D82A}">
                    <a16:rowId xmlns:a16="http://schemas.microsoft.com/office/drawing/2014/main" val="3686889980"/>
                  </a:ext>
                </a:extLst>
              </a:tr>
            </a:tbl>
          </a:graphicData>
        </a:graphic>
      </p:graphicFrame>
    </p:spTree>
    <p:extLst>
      <p:ext uri="{BB962C8B-B14F-4D97-AF65-F5344CB8AC3E}">
        <p14:creationId xmlns:p14="http://schemas.microsoft.com/office/powerpoint/2010/main" val="35256282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8621F-3F9F-305C-5B5E-AFA41A595C61}"/>
              </a:ext>
            </a:extLst>
          </p:cNvPr>
          <p:cNvSpPr>
            <a:spLocks noGrp="1"/>
          </p:cNvSpPr>
          <p:nvPr>
            <p:ph type="title"/>
          </p:nvPr>
        </p:nvSpPr>
        <p:spPr/>
        <p:txBody>
          <a:bodyPr/>
          <a:lstStyle/>
          <a:p>
            <a:r>
              <a:rPr lang="en-US"/>
              <a:t>DRC report</a:t>
            </a:r>
          </a:p>
        </p:txBody>
      </p:sp>
      <p:pic>
        <p:nvPicPr>
          <p:cNvPr id="5" name="Content Placeholder 4">
            <a:extLst>
              <a:ext uri="{FF2B5EF4-FFF2-40B4-BE49-F238E27FC236}">
                <a16:creationId xmlns:a16="http://schemas.microsoft.com/office/drawing/2014/main" id="{33B5458E-2A64-C572-EA00-788B2B636956}"/>
              </a:ext>
            </a:extLst>
          </p:cNvPr>
          <p:cNvPicPr>
            <a:picLocks noGrp="1" noChangeAspect="1"/>
          </p:cNvPicPr>
          <p:nvPr>
            <p:ph sz="half" idx="1"/>
          </p:nvPr>
        </p:nvPicPr>
        <p:blipFill>
          <a:blip r:embed="rId2"/>
          <a:stretch>
            <a:fillRect/>
          </a:stretch>
        </p:blipFill>
        <p:spPr>
          <a:xfrm>
            <a:off x="838200" y="1976773"/>
            <a:ext cx="5181600" cy="4049042"/>
          </a:xfrm>
        </p:spPr>
      </p:pic>
      <p:sp>
        <p:nvSpPr>
          <p:cNvPr id="4" name="Content Placeholder 3">
            <a:extLst>
              <a:ext uri="{FF2B5EF4-FFF2-40B4-BE49-F238E27FC236}">
                <a16:creationId xmlns:a16="http://schemas.microsoft.com/office/drawing/2014/main" id="{AF686668-A41E-AB90-C4CF-CEE2E4424E44}"/>
              </a:ext>
            </a:extLst>
          </p:cNvPr>
          <p:cNvSpPr>
            <a:spLocks noGrp="1"/>
          </p:cNvSpPr>
          <p:nvPr>
            <p:ph sz="half" idx="2"/>
          </p:nvPr>
        </p:nvSpPr>
        <p:spPr/>
        <p:txBody>
          <a:bodyPr vert="horz" lIns="91440" tIns="45720" rIns="91440" bIns="45720" rtlCol="0" anchor="t">
            <a:normAutofit fontScale="92500" lnSpcReduction="10000"/>
          </a:bodyPr>
          <a:lstStyle/>
          <a:p>
            <a:r>
              <a:rPr lang="en-US"/>
              <a:t>Tota DRC errors = 371 </a:t>
            </a:r>
          </a:p>
          <a:p>
            <a:r>
              <a:rPr lang="en-US"/>
              <a:t>Types of errors</a:t>
            </a:r>
          </a:p>
          <a:p>
            <a:pPr lvl="1">
              <a:buFont typeface="Courier New" panose="020B0604020202020204" pitchFamily="34" charset="0"/>
              <a:buChar char="o"/>
            </a:pPr>
            <a:r>
              <a:rPr lang="en-US" err="1"/>
              <a:t>ViaEnclosure</a:t>
            </a:r>
            <a:r>
              <a:rPr lang="en-US"/>
              <a:t> violation</a:t>
            </a:r>
          </a:p>
          <a:p>
            <a:pPr lvl="1">
              <a:buFont typeface="Courier New" panose="020B0604020202020204" pitchFamily="34" charset="0"/>
              <a:buChar char="o"/>
            </a:pPr>
            <a:r>
              <a:rPr lang="en-US" err="1"/>
              <a:t>EndofLine</a:t>
            </a:r>
            <a:r>
              <a:rPr lang="en-US"/>
              <a:t> violation</a:t>
            </a:r>
          </a:p>
          <a:p>
            <a:r>
              <a:rPr lang="en-US"/>
              <a:t>Error location</a:t>
            </a:r>
          </a:p>
          <a:p>
            <a:pPr lvl="1">
              <a:buFont typeface="Courier New" panose="020B0604020202020204" pitchFamily="34" charset="0"/>
              <a:buChar char="o"/>
            </a:pPr>
            <a:r>
              <a:rPr lang="en-US" sz="2600"/>
              <a:t>All errors happened around the SRAM macros</a:t>
            </a:r>
            <a:endParaRPr lang="en-US"/>
          </a:p>
          <a:p>
            <a:r>
              <a:rPr lang="en-US"/>
              <a:t>Reason: via rules define in the tool command did not apply to the macro sine the macros are define as instances (use as it is)</a:t>
            </a:r>
          </a:p>
        </p:txBody>
      </p:sp>
    </p:spTree>
    <p:extLst>
      <p:ext uri="{BB962C8B-B14F-4D97-AF65-F5344CB8AC3E}">
        <p14:creationId xmlns:p14="http://schemas.microsoft.com/office/powerpoint/2010/main" val="4245898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6EC1B-86D5-49DF-96DC-8833B223D67D}"/>
              </a:ext>
            </a:extLst>
          </p:cNvPr>
          <p:cNvSpPr>
            <a:spLocks noGrp="1"/>
          </p:cNvSpPr>
          <p:nvPr>
            <p:ph type="title"/>
          </p:nvPr>
        </p:nvSpPr>
        <p:spPr/>
        <p:txBody>
          <a:bodyPr/>
          <a:lstStyle/>
          <a:p>
            <a:r>
              <a:rPr lang="en-US"/>
              <a:t>LVS errors</a:t>
            </a:r>
          </a:p>
        </p:txBody>
      </p:sp>
      <p:pic>
        <p:nvPicPr>
          <p:cNvPr id="6" name="Content Placeholder 5" descr="A screenshot of a computer&#10;&#10;AI-generated content may be incorrect.">
            <a:extLst>
              <a:ext uri="{FF2B5EF4-FFF2-40B4-BE49-F238E27FC236}">
                <a16:creationId xmlns:a16="http://schemas.microsoft.com/office/drawing/2014/main" id="{DF93635B-E38A-5349-7828-07F866004EE5}"/>
              </a:ext>
            </a:extLst>
          </p:cNvPr>
          <p:cNvPicPr>
            <a:picLocks noGrp="1" noChangeAspect="1"/>
          </p:cNvPicPr>
          <p:nvPr>
            <p:ph idx="1"/>
          </p:nvPr>
        </p:nvPicPr>
        <p:blipFill>
          <a:blip r:embed="rId2"/>
          <a:stretch>
            <a:fillRect/>
          </a:stretch>
        </p:blipFill>
        <p:spPr>
          <a:xfrm>
            <a:off x="2141073" y="2376569"/>
            <a:ext cx="6926984" cy="3790580"/>
          </a:xfrm>
        </p:spPr>
      </p:pic>
    </p:spTree>
    <p:extLst>
      <p:ext uri="{BB962C8B-B14F-4D97-AF65-F5344CB8AC3E}">
        <p14:creationId xmlns:p14="http://schemas.microsoft.com/office/powerpoint/2010/main" val="12486014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e7daa7a3-c1a0-4743-a840-902661f20e5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2D887B9C307BD4E8B7EDC551B3AAA1C" ma:contentTypeVersion="13" ma:contentTypeDescription="Create a new document." ma:contentTypeScope="" ma:versionID="f739c6be5cb6979b0afcc80f23997287">
  <xsd:schema xmlns:xsd="http://www.w3.org/2001/XMLSchema" xmlns:xs="http://www.w3.org/2001/XMLSchema" xmlns:p="http://schemas.microsoft.com/office/2006/metadata/properties" xmlns:ns3="e7daa7a3-c1a0-4743-a840-902661f20e5f" xmlns:ns4="e99bd6ed-6699-48f6-8caa-3f6f7abd40fe" targetNamespace="http://schemas.microsoft.com/office/2006/metadata/properties" ma:root="true" ma:fieldsID="53850146c2f0c7b40426e0aba5ded314" ns3:_="" ns4:_="">
    <xsd:import namespace="e7daa7a3-c1a0-4743-a840-902661f20e5f"/>
    <xsd:import namespace="e99bd6ed-6699-48f6-8caa-3f6f7abd40fe"/>
    <xsd:element name="properties">
      <xsd:complexType>
        <xsd:sequence>
          <xsd:element name="documentManagement">
            <xsd:complexType>
              <xsd:all>
                <xsd:element ref="ns3:MediaServiceMetadata" minOccurs="0"/>
                <xsd:element ref="ns3:MediaServiceFastMetadata" minOccurs="0"/>
                <xsd:element ref="ns3:MediaServiceDateTaken" minOccurs="0"/>
                <xsd:element ref="ns4:SharedWithUsers" minOccurs="0"/>
                <xsd:element ref="ns4:SharedWithDetails" minOccurs="0"/>
                <xsd:element ref="ns4:SharingHintHash" minOccurs="0"/>
                <xsd:element ref="ns3:MediaServiceAutoKeyPoints" minOccurs="0"/>
                <xsd:element ref="ns3:MediaServiceKeyPoints" minOccurs="0"/>
                <xsd:element ref="ns3:MediaLengthInSeconds" minOccurs="0"/>
                <xsd:element ref="ns3:_activity" minOccurs="0"/>
                <xsd:element ref="ns3:MediaServiceObjectDetectorVersions" minOccurs="0"/>
                <xsd:element ref="ns3:MediaServiceAuto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daa7a3-c1a0-4743-a840-902661f20e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LengthInSeconds" ma:index="16" nillable="true" ma:displayName="Length (seconds)" ma:internalName="MediaLengthInSeconds" ma:readOnly="true">
      <xsd:simpleType>
        <xsd:restriction base="dms:Unknown"/>
      </xsd:simpleType>
    </xsd:element>
    <xsd:element name="_activity" ma:index="17" nillable="true" ma:displayName="_activity" ma:hidden="true" ma:internalName="_activity">
      <xsd:simpleType>
        <xsd:restriction base="dms:Note"/>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AutoTags" ma:index="19" nillable="true" ma:displayName="Tags" ma:internalName="MediaServiceAutoTag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99bd6ed-6699-48f6-8caa-3f6f7abd40fe"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87E5B1F-E45A-4EDA-A79C-F779A164289B}">
  <ds:schemaRefs>
    <ds:schemaRef ds:uri="http://schemas.microsoft.com/sharepoint/v3/contenttype/forms"/>
  </ds:schemaRefs>
</ds:datastoreItem>
</file>

<file path=customXml/itemProps2.xml><?xml version="1.0" encoding="utf-8"?>
<ds:datastoreItem xmlns:ds="http://schemas.openxmlformats.org/officeDocument/2006/customXml" ds:itemID="{FEC3BA88-EF31-4B46-8F78-2DB3A17D7A18}">
  <ds:schemaRefs>
    <ds:schemaRef ds:uri="http://schemas.microsoft.com/office/2006/documentManagement/types"/>
    <ds:schemaRef ds:uri="e7daa7a3-c1a0-4743-a840-902661f20e5f"/>
    <ds:schemaRef ds:uri="http://purl.org/dc/elements/1.1/"/>
    <ds:schemaRef ds:uri="http://purl.org/dc/terms/"/>
    <ds:schemaRef ds:uri="http://www.w3.org/XML/1998/namespace"/>
    <ds:schemaRef ds:uri="http://schemas.microsoft.com/office/infopath/2007/PartnerControls"/>
    <ds:schemaRef ds:uri="http://purl.org/dc/dcmitype/"/>
    <ds:schemaRef ds:uri="http://schemas.openxmlformats.org/package/2006/metadata/core-properties"/>
    <ds:schemaRef ds:uri="e99bd6ed-6699-48f6-8caa-3f6f7abd40fe"/>
    <ds:schemaRef ds:uri="http://schemas.microsoft.com/office/2006/metadata/properties"/>
  </ds:schemaRefs>
</ds:datastoreItem>
</file>

<file path=customXml/itemProps3.xml><?xml version="1.0" encoding="utf-8"?>
<ds:datastoreItem xmlns:ds="http://schemas.openxmlformats.org/officeDocument/2006/customXml" ds:itemID="{357B937B-162A-4107-962E-C096D6F74308}">
  <ds:schemaRefs>
    <ds:schemaRef ds:uri="e7daa7a3-c1a0-4743-a840-902661f20e5f"/>
    <ds:schemaRef ds:uri="e99bd6ed-6699-48f6-8caa-3f6f7abd40f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1139</Words>
  <Application>Microsoft Office PowerPoint</Application>
  <PresentationFormat>Widescreen</PresentationFormat>
  <Paragraphs>168</Paragraphs>
  <Slides>28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Aptos</vt:lpstr>
      <vt:lpstr>Aptos Display</vt:lpstr>
      <vt:lpstr>Arial</vt:lpstr>
      <vt:lpstr>Calibri</vt:lpstr>
      <vt:lpstr>Courier New</vt:lpstr>
      <vt:lpstr>Courier New,monospace</vt:lpstr>
      <vt:lpstr>Office Theme</vt:lpstr>
      <vt:lpstr>MSDAP Final Presentation</vt:lpstr>
      <vt:lpstr>MSDAP Architecture</vt:lpstr>
      <vt:lpstr>MSDAP Architecture</vt:lpstr>
      <vt:lpstr>Original Code</vt:lpstr>
      <vt:lpstr>Original Code Simulations</vt:lpstr>
      <vt:lpstr>Utilization of Provided Code</vt:lpstr>
      <vt:lpstr>Differences in Provided Code and Original</vt:lpstr>
      <vt:lpstr>Differences in Provided Code and Original</vt:lpstr>
      <vt:lpstr>Constraints for synthesis</vt:lpstr>
      <vt:lpstr>Tool commands used for Synthesis</vt:lpstr>
      <vt:lpstr>Preserve mem instances</vt:lpstr>
      <vt:lpstr>Syn area report</vt:lpstr>
      <vt:lpstr>Syn Power report</vt:lpstr>
      <vt:lpstr>Syn Timing/ setup report</vt:lpstr>
      <vt:lpstr>Syn PPA</vt:lpstr>
      <vt:lpstr>Place and Route Process Flow</vt:lpstr>
      <vt:lpstr>PnR Process Flow  continues</vt:lpstr>
      <vt:lpstr>Add physical constraints </vt:lpstr>
      <vt:lpstr>Placement</vt:lpstr>
      <vt:lpstr>Route Design</vt:lpstr>
      <vt:lpstr>Create the needed file for the next Process</vt:lpstr>
      <vt:lpstr>Design Report (Area)</vt:lpstr>
      <vt:lpstr>Design Report (Power)</vt:lpstr>
      <vt:lpstr>Design Report (Setup/timing)</vt:lpstr>
      <vt:lpstr>PowerPoint Presentation</vt:lpstr>
      <vt:lpstr>PPA Syn vs PnR</vt:lpstr>
      <vt:lpstr>DRC report</vt:lpstr>
      <vt:lpstr>LVS errors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Perez, Caleb</dc:creator>
  <cp:lastModifiedBy>Jammeh, Lamin</cp:lastModifiedBy>
  <cp:revision>2</cp:revision>
  <dcterms:created xsi:type="dcterms:W3CDTF">2025-05-04T04:15:00Z</dcterms:created>
  <dcterms:modified xsi:type="dcterms:W3CDTF">2025-05-06T18:48:57Z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0x010100F2D887B9C307BD4E8B7EDC551B3AAA1C</vt:lpwstr>
  </property>
</Properties>
</file>